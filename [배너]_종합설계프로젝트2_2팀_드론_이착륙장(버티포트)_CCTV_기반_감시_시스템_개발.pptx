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2898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8635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311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387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006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0617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5126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1714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4406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5143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8151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4E94E-DBF1-4B2A-9CA1-B750FDC380FE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1690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542" y="728506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 err="1">
                <a:solidFill>
                  <a:srgbClr val="002060"/>
                </a:solidFill>
                <a:latin typeface="+mn-ea"/>
              </a:rPr>
              <a:t>프로젝트명</a:t>
            </a:r>
            <a:r>
              <a:rPr lang="en-US" altLang="ko-KR" sz="3600" dirty="0">
                <a:solidFill>
                  <a:srgbClr val="002060"/>
                </a:solidFill>
                <a:latin typeface="+mn-ea"/>
              </a:rPr>
              <a:t>(</a:t>
            </a:r>
            <a:r>
              <a:rPr lang="ko-KR" altLang="en-US" sz="3600" dirty="0" err="1">
                <a:solidFill>
                  <a:srgbClr val="002060"/>
                </a:solidFill>
                <a:latin typeface="+mn-ea"/>
              </a:rPr>
              <a:t>주제명</a:t>
            </a:r>
            <a:r>
              <a:rPr lang="en-US" altLang="ko-KR" sz="3600" dirty="0">
                <a:solidFill>
                  <a:srgbClr val="002060"/>
                </a:solidFill>
                <a:latin typeface="+mn-ea"/>
              </a:rPr>
              <a:t>)</a:t>
            </a:r>
            <a:r>
              <a:rPr lang="ko-KR" altLang="en-US" sz="3600" dirty="0">
                <a:solidFill>
                  <a:srgbClr val="002060"/>
                </a:solidFill>
                <a:latin typeface="+mn-ea"/>
              </a:rPr>
              <a:t>을 </a:t>
            </a:r>
            <a:endParaRPr lang="en-US" altLang="ko-KR" sz="3600" dirty="0">
              <a:solidFill>
                <a:srgbClr val="002060"/>
              </a:solidFill>
              <a:latin typeface="+mn-ea"/>
            </a:endParaRPr>
          </a:p>
          <a:p>
            <a:pPr algn="ctr"/>
            <a:r>
              <a:rPr lang="ko-KR" altLang="en-US" sz="3600" dirty="0">
                <a:solidFill>
                  <a:srgbClr val="002060"/>
                </a:solidFill>
                <a:latin typeface="+mn-ea"/>
              </a:rPr>
              <a:t>적어주세요</a:t>
            </a:r>
            <a:r>
              <a:rPr lang="en-US" altLang="ko-KR" sz="3600" dirty="0">
                <a:solidFill>
                  <a:srgbClr val="002060"/>
                </a:solidFill>
                <a:latin typeface="+mn-ea"/>
              </a:rPr>
              <a:t>(</a:t>
            </a:r>
            <a:r>
              <a:rPr lang="ko-KR" altLang="en-US" sz="3600" dirty="0" err="1">
                <a:solidFill>
                  <a:srgbClr val="002060"/>
                </a:solidFill>
                <a:latin typeface="+mn-ea"/>
              </a:rPr>
              <a:t>맑은고딕</a:t>
            </a:r>
            <a:r>
              <a:rPr lang="ko-KR" altLang="en-US" sz="3600" dirty="0">
                <a:solidFill>
                  <a:srgbClr val="002060"/>
                </a:solidFill>
                <a:latin typeface="+mn-ea"/>
              </a:rPr>
              <a:t> </a:t>
            </a:r>
            <a:r>
              <a:rPr lang="en-US" altLang="ko-KR" sz="3600" dirty="0">
                <a:solidFill>
                  <a:srgbClr val="002060"/>
                </a:solidFill>
                <a:latin typeface="+mn-ea"/>
              </a:rPr>
              <a:t>36p) </a:t>
            </a:r>
            <a:endParaRPr lang="ko-KR" altLang="en-US" sz="3600" dirty="0">
              <a:solidFill>
                <a:srgbClr val="002060"/>
              </a:solidFill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81891" y="4663440"/>
            <a:ext cx="11039302" cy="180386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5542" y="2279757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/>
              <a:t>기업명 </a:t>
            </a:r>
            <a:r>
              <a:rPr lang="en-US" altLang="ko-KR" sz="2000" dirty="0"/>
              <a:t>:                                              </a:t>
            </a:r>
            <a:r>
              <a:rPr lang="ko-KR" altLang="en-US" sz="2000" dirty="0"/>
              <a:t>멘토 </a:t>
            </a:r>
            <a:r>
              <a:rPr lang="en-US" altLang="ko-KR" sz="2000" dirty="0"/>
              <a:t>: </a:t>
            </a:r>
            <a:endParaRPr lang="ko-KR" altLang="en-US" sz="2000" dirty="0"/>
          </a:p>
        </p:txBody>
      </p: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628058"/>
              </p:ext>
            </p:extLst>
          </p:nvPr>
        </p:nvGraphicFramePr>
        <p:xfrm>
          <a:off x="644236" y="2819570"/>
          <a:ext cx="11039305" cy="851994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207861">
                  <a:extLst>
                    <a:ext uri="{9D8B030D-6E8A-4147-A177-3AD203B41FA5}">
                      <a16:colId xmlns:a16="http://schemas.microsoft.com/office/drawing/2014/main" val="3879655121"/>
                    </a:ext>
                  </a:extLst>
                </a:gridCol>
                <a:gridCol w="2207861">
                  <a:extLst>
                    <a:ext uri="{9D8B030D-6E8A-4147-A177-3AD203B41FA5}">
                      <a16:colId xmlns:a16="http://schemas.microsoft.com/office/drawing/2014/main" val="2052876400"/>
                    </a:ext>
                  </a:extLst>
                </a:gridCol>
                <a:gridCol w="2207861">
                  <a:extLst>
                    <a:ext uri="{9D8B030D-6E8A-4147-A177-3AD203B41FA5}">
                      <a16:colId xmlns:a16="http://schemas.microsoft.com/office/drawing/2014/main" val="1287686911"/>
                    </a:ext>
                  </a:extLst>
                </a:gridCol>
                <a:gridCol w="2207861">
                  <a:extLst>
                    <a:ext uri="{9D8B030D-6E8A-4147-A177-3AD203B41FA5}">
                      <a16:colId xmlns:a16="http://schemas.microsoft.com/office/drawing/2014/main" val="3437281430"/>
                    </a:ext>
                  </a:extLst>
                </a:gridCol>
                <a:gridCol w="2207861">
                  <a:extLst>
                    <a:ext uri="{9D8B030D-6E8A-4147-A177-3AD203B41FA5}">
                      <a16:colId xmlns:a16="http://schemas.microsoft.com/office/drawing/2014/main" val="1670297334"/>
                    </a:ext>
                  </a:extLst>
                </a:gridCol>
              </a:tblGrid>
              <a:tr h="4259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/>
                        <a:t>컴퓨터학부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/>
                        <a:t>컴퓨터학부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dirty="0" err="1"/>
                        <a:t>컴퓨터학부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dirty="0" err="1"/>
                        <a:t>컴퓨터학부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dirty="0" err="1"/>
                        <a:t>컴퓨터학부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9295558"/>
                  </a:ext>
                </a:extLst>
              </a:tr>
              <a:tr h="4259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홍길동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dirty="0"/>
                        <a:t>홍길동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홍길동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홍길동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홍길동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858995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37900" y="4745024"/>
            <a:ext cx="10638407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○ </a:t>
            </a:r>
            <a:r>
              <a:rPr lang="ko-KR" altLang="en-US" sz="2000" dirty="0" err="1"/>
              <a:t>맑은고딕</a:t>
            </a:r>
            <a:r>
              <a:rPr lang="ko-KR" altLang="en-US" sz="2000" dirty="0"/>
              <a:t> </a:t>
            </a:r>
            <a:r>
              <a:rPr lang="en-US" altLang="ko-KR" sz="2000" dirty="0"/>
              <a:t>20p</a:t>
            </a:r>
          </a:p>
          <a:p>
            <a:endParaRPr lang="en-US" altLang="ko-KR" sz="2000" dirty="0"/>
          </a:p>
          <a:p>
            <a:r>
              <a:rPr lang="ko-KR" altLang="en-US" sz="2000" dirty="0"/>
              <a:t>○ </a:t>
            </a:r>
            <a:r>
              <a:rPr lang="ko-KR" altLang="en-US" sz="2000" dirty="0" err="1"/>
              <a:t>맑은고딕</a:t>
            </a:r>
            <a:r>
              <a:rPr lang="ko-KR" altLang="en-US" sz="2000" dirty="0"/>
              <a:t> </a:t>
            </a:r>
            <a:r>
              <a:rPr lang="en-US" altLang="ko-KR" sz="2000" dirty="0"/>
              <a:t>20p</a:t>
            </a:r>
          </a:p>
          <a:p>
            <a:endParaRPr lang="en-US" altLang="ko-KR" sz="2000" dirty="0"/>
          </a:p>
          <a:p>
            <a:r>
              <a:rPr lang="ko-KR" altLang="en-US" sz="2000" dirty="0"/>
              <a:t>○ </a:t>
            </a:r>
            <a:r>
              <a:rPr lang="ko-KR" altLang="en-US" sz="2000" dirty="0" err="1"/>
              <a:t>맑은고딕</a:t>
            </a:r>
            <a:r>
              <a:rPr lang="ko-KR" altLang="en-US" sz="2000" dirty="0"/>
              <a:t> </a:t>
            </a:r>
            <a:r>
              <a:rPr lang="en-US" altLang="ko-KR" sz="2000" dirty="0"/>
              <a:t>20p</a:t>
            </a:r>
          </a:p>
          <a:p>
            <a:endParaRPr lang="ko-KR" altLang="en-US" dirty="0"/>
          </a:p>
        </p:txBody>
      </p:sp>
      <p:grpSp>
        <p:nvGrpSpPr>
          <p:cNvPr id="20" name="그룹 19"/>
          <p:cNvGrpSpPr/>
          <p:nvPr/>
        </p:nvGrpSpPr>
        <p:grpSpPr>
          <a:xfrm>
            <a:off x="581891" y="4073237"/>
            <a:ext cx="4463934" cy="448887"/>
            <a:chOff x="627842" y="1492250"/>
            <a:chExt cx="2664888" cy="444500"/>
          </a:xfrm>
        </p:grpSpPr>
        <p:pic>
          <p:nvPicPr>
            <p:cNvPr id="21" name="Pictur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465036" y="1655056"/>
              <a:ext cx="400050" cy="74438"/>
            </a:xfrm>
            <a:prstGeom prst="rect">
              <a:avLst/>
            </a:prstGeom>
          </p:spPr>
        </p:pic>
        <p:sp>
          <p:nvSpPr>
            <p:cNvPr id="22" name="TextBox 18"/>
            <p:cNvSpPr txBox="1"/>
            <p:nvPr/>
          </p:nvSpPr>
          <p:spPr>
            <a:xfrm>
              <a:off x="786643" y="1525720"/>
              <a:ext cx="2506087" cy="4110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2000" b="1" dirty="0">
                  <a:solidFill>
                    <a:srgbClr val="1C5E8D"/>
                  </a:solidFill>
                  <a:latin typeface="+mn-ea"/>
                </a:rPr>
                <a:t>배경 및 목표</a:t>
              </a:r>
              <a:endParaRPr lang="ko-KR" sz="2000" b="1" i="0" u="none" strike="noStrike" dirty="0">
                <a:solidFill>
                  <a:srgbClr val="1C5E8D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124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581892" y="399011"/>
            <a:ext cx="4463934" cy="448887"/>
            <a:chOff x="627842" y="1492250"/>
            <a:chExt cx="2664888" cy="444500"/>
          </a:xfrm>
        </p:grpSpPr>
        <p:pic>
          <p:nvPicPr>
            <p:cNvPr id="6" name="Pictur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465036" y="1655056"/>
              <a:ext cx="400050" cy="74438"/>
            </a:xfrm>
            <a:prstGeom prst="rect">
              <a:avLst/>
            </a:prstGeom>
          </p:spPr>
        </p:pic>
        <p:sp>
          <p:nvSpPr>
            <p:cNvPr id="7" name="TextBox 18"/>
            <p:cNvSpPr txBox="1"/>
            <p:nvPr/>
          </p:nvSpPr>
          <p:spPr>
            <a:xfrm>
              <a:off x="786643" y="1525720"/>
              <a:ext cx="2506087" cy="4110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2000" b="1" dirty="0">
                  <a:solidFill>
                    <a:srgbClr val="1C5E8D"/>
                  </a:solidFill>
                  <a:latin typeface="+mn-ea"/>
                </a:rPr>
                <a:t>시스템</a:t>
              </a:r>
              <a:r>
                <a:rPr lang="en-US" altLang="ko-KR" sz="2000" b="1" dirty="0">
                  <a:solidFill>
                    <a:srgbClr val="1C5E8D"/>
                  </a:solidFill>
                  <a:latin typeface="+mn-ea"/>
                </a:rPr>
                <a:t> </a:t>
              </a:r>
              <a:r>
                <a:rPr lang="ko-KR" altLang="en-US" sz="2000" b="1" dirty="0">
                  <a:solidFill>
                    <a:srgbClr val="1C5E8D"/>
                  </a:solidFill>
                  <a:latin typeface="+mn-ea"/>
                </a:rPr>
                <a:t>전체 구조도</a:t>
              </a:r>
              <a:r>
                <a:rPr lang="en-US" altLang="ko-KR" sz="2000" b="1" dirty="0">
                  <a:solidFill>
                    <a:srgbClr val="1C5E8D"/>
                  </a:solidFill>
                  <a:latin typeface="+mn-ea"/>
                </a:rPr>
                <a:t>(</a:t>
              </a:r>
              <a:r>
                <a:rPr lang="ko-KR" altLang="en-US" sz="2000" b="1" dirty="0" err="1">
                  <a:solidFill>
                    <a:srgbClr val="1C5E8D"/>
                  </a:solidFill>
                  <a:latin typeface="+mn-ea"/>
                </a:rPr>
                <a:t>기술스택</a:t>
              </a:r>
              <a:r>
                <a:rPr lang="ko-KR" altLang="en-US" sz="2000" b="1" dirty="0">
                  <a:solidFill>
                    <a:srgbClr val="1C5E8D"/>
                  </a:solidFill>
                  <a:latin typeface="+mn-ea"/>
                </a:rPr>
                <a:t> 포함</a:t>
              </a:r>
              <a:r>
                <a:rPr lang="en-US" altLang="ko-KR" sz="2000" b="1" dirty="0">
                  <a:solidFill>
                    <a:srgbClr val="1C5E8D"/>
                  </a:solidFill>
                  <a:latin typeface="+mn-ea"/>
                </a:rPr>
                <a:t>)</a:t>
              </a:r>
              <a:endParaRPr lang="ko-KR" sz="2000" b="1" i="0" u="none" strike="noStrike" dirty="0">
                <a:solidFill>
                  <a:srgbClr val="1C5E8D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7797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581892" y="399011"/>
            <a:ext cx="4463934" cy="448887"/>
            <a:chOff x="627842" y="1492250"/>
            <a:chExt cx="2664888" cy="444500"/>
          </a:xfrm>
        </p:grpSpPr>
        <p:pic>
          <p:nvPicPr>
            <p:cNvPr id="6" name="Pictur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465036" y="1655056"/>
              <a:ext cx="400050" cy="74438"/>
            </a:xfrm>
            <a:prstGeom prst="rect">
              <a:avLst/>
            </a:prstGeom>
          </p:spPr>
        </p:pic>
        <p:sp>
          <p:nvSpPr>
            <p:cNvPr id="7" name="TextBox 18"/>
            <p:cNvSpPr txBox="1"/>
            <p:nvPr/>
          </p:nvSpPr>
          <p:spPr>
            <a:xfrm>
              <a:off x="786643" y="1525720"/>
              <a:ext cx="2506087" cy="4110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2000" b="1" dirty="0">
                  <a:solidFill>
                    <a:srgbClr val="1C5E8D"/>
                  </a:solidFill>
                  <a:latin typeface="+mn-ea"/>
                </a:rPr>
                <a:t>구현 기능</a:t>
              </a:r>
              <a:endParaRPr lang="ko-KR" sz="2000" b="1" i="0" u="none" strike="noStrike" dirty="0">
                <a:solidFill>
                  <a:srgbClr val="1C5E8D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9715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581892" y="399011"/>
            <a:ext cx="4463934" cy="448887"/>
            <a:chOff x="627842" y="1492250"/>
            <a:chExt cx="2664888" cy="444500"/>
          </a:xfrm>
        </p:grpSpPr>
        <p:pic>
          <p:nvPicPr>
            <p:cNvPr id="6" name="Pictur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465036" y="1655056"/>
              <a:ext cx="400050" cy="74438"/>
            </a:xfrm>
            <a:prstGeom prst="rect">
              <a:avLst/>
            </a:prstGeom>
          </p:spPr>
        </p:pic>
        <p:sp>
          <p:nvSpPr>
            <p:cNvPr id="7" name="TextBox 18"/>
            <p:cNvSpPr txBox="1"/>
            <p:nvPr/>
          </p:nvSpPr>
          <p:spPr>
            <a:xfrm>
              <a:off x="786643" y="1525720"/>
              <a:ext cx="2506087" cy="4110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2000" b="1" dirty="0">
                  <a:solidFill>
                    <a:srgbClr val="1C5E8D"/>
                  </a:solidFill>
                  <a:latin typeface="+mn-ea"/>
                </a:rPr>
                <a:t>프로젝트 결과</a:t>
              </a:r>
              <a:endParaRPr lang="ko-KR" sz="2000" b="1" i="0" u="none" strike="noStrike" dirty="0">
                <a:solidFill>
                  <a:srgbClr val="1C5E8D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2327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/>
        </p:nvSpPr>
        <p:spPr>
          <a:xfrm>
            <a:off x="581891" y="4605251"/>
            <a:ext cx="11039302" cy="180386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46368" y="4669904"/>
            <a:ext cx="1063840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○ </a:t>
            </a:r>
            <a:r>
              <a:rPr lang="ko-KR" altLang="en-US" sz="2000" dirty="0" err="1"/>
              <a:t>맑은고딕</a:t>
            </a:r>
            <a:r>
              <a:rPr lang="ko-KR" altLang="en-US" sz="2000" dirty="0"/>
              <a:t> </a:t>
            </a:r>
            <a:r>
              <a:rPr lang="en-US" altLang="ko-KR" sz="2000" dirty="0"/>
              <a:t>20p</a:t>
            </a:r>
          </a:p>
          <a:p>
            <a:endParaRPr lang="en-US" altLang="ko-KR" sz="2000" dirty="0"/>
          </a:p>
          <a:p>
            <a:r>
              <a:rPr lang="ko-KR" altLang="en-US" sz="2000" dirty="0"/>
              <a:t>○ </a:t>
            </a:r>
            <a:r>
              <a:rPr lang="ko-KR" altLang="en-US" sz="2000" dirty="0" err="1"/>
              <a:t>맑은고딕</a:t>
            </a:r>
            <a:r>
              <a:rPr lang="ko-KR" altLang="en-US" sz="2000" dirty="0"/>
              <a:t> </a:t>
            </a:r>
            <a:r>
              <a:rPr lang="en-US" altLang="ko-KR" sz="2000" dirty="0"/>
              <a:t>20p</a:t>
            </a:r>
          </a:p>
          <a:p>
            <a:endParaRPr lang="en-US" altLang="ko-KR" sz="2000" dirty="0"/>
          </a:p>
          <a:p>
            <a:r>
              <a:rPr lang="ko-KR" altLang="en-US" sz="2000" dirty="0"/>
              <a:t>○ </a:t>
            </a:r>
            <a:r>
              <a:rPr lang="ko-KR" altLang="en-US" sz="2000" dirty="0" err="1"/>
              <a:t>맑은고딕</a:t>
            </a:r>
            <a:r>
              <a:rPr lang="ko-KR" altLang="en-US" sz="2000" dirty="0"/>
              <a:t> </a:t>
            </a:r>
            <a:r>
              <a:rPr lang="en-US" altLang="ko-KR" sz="2000" dirty="0"/>
              <a:t>20p</a:t>
            </a:r>
          </a:p>
          <a:p>
            <a:endParaRPr lang="ko-KR" altLang="en-US" sz="2000" dirty="0"/>
          </a:p>
        </p:txBody>
      </p:sp>
      <p:grpSp>
        <p:nvGrpSpPr>
          <p:cNvPr id="20" name="그룹 19"/>
          <p:cNvGrpSpPr/>
          <p:nvPr/>
        </p:nvGrpSpPr>
        <p:grpSpPr>
          <a:xfrm>
            <a:off x="581891" y="4015048"/>
            <a:ext cx="4463934" cy="448887"/>
            <a:chOff x="627842" y="1492250"/>
            <a:chExt cx="2664888" cy="444500"/>
          </a:xfrm>
        </p:grpSpPr>
        <p:pic>
          <p:nvPicPr>
            <p:cNvPr id="21" name="Pictur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465036" y="1655056"/>
              <a:ext cx="400050" cy="74438"/>
            </a:xfrm>
            <a:prstGeom prst="rect">
              <a:avLst/>
            </a:prstGeom>
          </p:spPr>
        </p:pic>
        <p:sp>
          <p:nvSpPr>
            <p:cNvPr id="22" name="TextBox 18"/>
            <p:cNvSpPr txBox="1"/>
            <p:nvPr/>
          </p:nvSpPr>
          <p:spPr>
            <a:xfrm>
              <a:off x="786643" y="1525720"/>
              <a:ext cx="2506087" cy="4110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2000" b="1" i="0" u="none" strike="noStrike" dirty="0">
                  <a:solidFill>
                    <a:srgbClr val="1C5E8D"/>
                  </a:solidFill>
                  <a:latin typeface="+mn-ea"/>
                </a:rPr>
                <a:t>기대 효과</a:t>
              </a:r>
              <a:endParaRPr lang="ko-KR" sz="2000" b="1" i="0" u="none" strike="noStrike" dirty="0">
                <a:solidFill>
                  <a:srgbClr val="1C5E8D"/>
                </a:solidFill>
                <a:latin typeface="+mn-ea"/>
              </a:endParaRPr>
            </a:p>
          </p:txBody>
        </p:sp>
      </p:grpSp>
      <p:sp>
        <p:nvSpPr>
          <p:cNvPr id="10" name="직사각형 9"/>
          <p:cNvSpPr/>
          <p:nvPr/>
        </p:nvSpPr>
        <p:spPr>
          <a:xfrm>
            <a:off x="581891" y="1026664"/>
            <a:ext cx="11039302" cy="253118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" name="그룹 11"/>
          <p:cNvGrpSpPr/>
          <p:nvPr/>
        </p:nvGrpSpPr>
        <p:grpSpPr>
          <a:xfrm>
            <a:off x="581891" y="436460"/>
            <a:ext cx="4463934" cy="448887"/>
            <a:chOff x="627842" y="1492250"/>
            <a:chExt cx="2664888" cy="444500"/>
          </a:xfrm>
        </p:grpSpPr>
        <p:pic>
          <p:nvPicPr>
            <p:cNvPr id="13" name="Pictur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465036" y="1655056"/>
              <a:ext cx="400050" cy="74438"/>
            </a:xfrm>
            <a:prstGeom prst="rect">
              <a:avLst/>
            </a:prstGeom>
          </p:spPr>
        </p:pic>
        <p:sp>
          <p:nvSpPr>
            <p:cNvPr id="14" name="TextBox 18"/>
            <p:cNvSpPr txBox="1"/>
            <p:nvPr/>
          </p:nvSpPr>
          <p:spPr>
            <a:xfrm>
              <a:off x="786643" y="1525720"/>
              <a:ext cx="2506087" cy="4110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2000" b="1" dirty="0">
                  <a:solidFill>
                    <a:srgbClr val="1C5E8D"/>
                  </a:solidFill>
                  <a:latin typeface="+mn-ea"/>
                </a:rPr>
                <a:t>실적 산출</a:t>
              </a:r>
              <a:endParaRPr lang="ko-KR" sz="2000" b="1" i="0" u="none" strike="noStrike" dirty="0">
                <a:solidFill>
                  <a:srgbClr val="1C5E8D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733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60</Words>
  <Application>Microsoft Office PowerPoint</Application>
  <PresentationFormat>와이드스크린</PresentationFormat>
  <Paragraphs>29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소프트웨어교육원</dc:creator>
  <cp:lastModifiedBy>민기 성</cp:lastModifiedBy>
  <cp:revision>4</cp:revision>
  <dcterms:created xsi:type="dcterms:W3CDTF">2025-05-26T08:38:07Z</dcterms:created>
  <dcterms:modified xsi:type="dcterms:W3CDTF">2026-05-22T08:19:46Z</dcterms:modified>
</cp:coreProperties>
</file>