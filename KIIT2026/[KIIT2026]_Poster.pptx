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906000" cy="6858000" type="A4"/>
  <p:notesSz cx="6769100" cy="9906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32" autoAdjust="0"/>
    <p:restoredTop sz="94660"/>
  </p:normalViewPr>
  <p:slideViewPr>
    <p:cSldViewPr snapToGrid="0">
      <p:cViewPr varScale="1">
        <p:scale>
          <a:sx n="68" d="100"/>
          <a:sy n="68" d="100"/>
        </p:scale>
        <p:origin x="48" y="1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33277" cy="4970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34257" y="0"/>
            <a:ext cx="2933277" cy="4970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2792D4-2236-4BCC-82B9-EFDE4237D23D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69963" y="1238250"/>
            <a:ext cx="4829175" cy="3343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6910" y="4767262"/>
            <a:ext cx="5415280" cy="39004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08981"/>
            <a:ext cx="2933277" cy="49701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34257" y="9408981"/>
            <a:ext cx="2933277" cy="49701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2C7919-9967-4594-BA69-6AA4737F75F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269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C7919-9967-4594-BA69-6AA4737F75F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90189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C7919-9967-4594-BA69-6AA4737F75F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5764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C7919-9967-4594-BA69-6AA4737F75F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8043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C7919-9967-4594-BA69-6AA4737F75F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2629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C7919-9967-4594-BA69-6AA4737F75F3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17835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C7919-9967-4594-BA69-6AA4737F75F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80948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C7919-9967-4594-BA69-6AA4737F75F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5550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C7919-9967-4594-BA69-6AA4737F75F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79126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3659E-3EF5-43B6-9757-360D5538E050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200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182" y="-100013"/>
            <a:ext cx="8543925" cy="1325563"/>
          </a:xfrm>
        </p:spPr>
        <p:txBody>
          <a:bodyPr>
            <a:normAutofit/>
          </a:bodyPr>
          <a:lstStyle>
            <a:lvl1pPr>
              <a:defRPr sz="3600">
                <a:latin typeface="Calibri" panose="020F0502020204030204" pitchFamily="34" charset="0"/>
                <a:ea typeface="나눔바른고딕" panose="020B0603020101020101" pitchFamily="50" charset="-127"/>
                <a:cs typeface="Calibri" panose="020F050202020403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1182" y="1337738"/>
            <a:ext cx="8543925" cy="435133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9D793-9614-4FD7-BF92-7FE322E30FEA}" type="datetime1">
              <a:rPr lang="ko-KR" altLang="en-US" smtClean="0"/>
              <a:t>2026-06-02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  <a:ea typeface="나눔바른펜" panose="020B0503000000000000" pitchFamily="50" charset="-127"/>
                <a:cs typeface="Calibri" panose="020F0502020204030204" pitchFamily="34" charset="0"/>
              </a:defRPr>
            </a:lvl1pPr>
          </a:lstStyle>
          <a:p>
            <a:fld id="{FAF3FDB3-6B7D-4283-B852-90938B49622F}" type="slidenum">
              <a:rPr lang="ko-KR" altLang="en-US" smtClean="0"/>
              <a:pPr/>
              <a:t>‹#›</a:t>
            </a:fld>
            <a:endParaRPr lang="ko-KR" altLang="en-US">
              <a:latin typeface="Calibri" panose="020F0502020204030204" pitchFamily="34" charset="0"/>
            </a:endParaRP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4E5C381-C35B-2C16-24BC-7323F2A56F0B}"/>
              </a:ext>
            </a:extLst>
          </p:cNvPr>
          <p:cNvCxnSpPr>
            <a:cxnSpLocks/>
          </p:cNvCxnSpPr>
          <p:nvPr userDrawn="1"/>
        </p:nvCxnSpPr>
        <p:spPr>
          <a:xfrm>
            <a:off x="0" y="1060790"/>
            <a:ext cx="9906000" cy="0"/>
          </a:xfrm>
          <a:prstGeom prst="line">
            <a:avLst/>
          </a:prstGeom>
          <a:ln w="63500" cmpd="thickThin">
            <a:gradFill flip="none" rotWithShape="1"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10000"/>
                  </a:schemeClr>
                </a:gs>
              </a:gsLst>
              <a:lin ang="108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73731C28-598E-8B83-A2C2-4B712E0D9C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21" y="6542259"/>
            <a:ext cx="1434738" cy="195260"/>
          </a:xfrm>
          <a:prstGeom prst="rect">
            <a:avLst/>
          </a:prstGeom>
        </p:spPr>
      </p:pic>
      <p:pic>
        <p:nvPicPr>
          <p:cNvPr id="12" name="그림 11" descr="엠엠피 2026년 기업정보 - 직원수, 근무환경, 복리후생 등 | 잡코리아">
            <a:extLst>
              <a:ext uri="{FF2B5EF4-FFF2-40B4-BE49-F238E27FC236}">
                <a16:creationId xmlns:a16="http://schemas.microsoft.com/office/drawing/2014/main" id="{8C92CF84-29B1-9CEC-9CEA-463A62131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624703" y="6492630"/>
            <a:ext cx="950062" cy="252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589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BFC1C-838A-4466-9422-8BF9AF2FA081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1589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E8B52-671E-4487-A8E4-3BE6208BE02A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1635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6C8A8-F6E7-4039-9CD9-F5507F459A0B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615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A583-9797-4313-8E4D-645DAFA925B8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300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38575-FC2B-4823-A3E0-42A02DD536FE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8174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8379A-CC6F-48EF-8215-1518574307A4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139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8DB6-A440-403A-8AC2-BA283BAD61A2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5964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DC477-B159-4DF6-BC9B-0E40E37B6545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7486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F088A-6F59-488E-B75F-C5B0552D843A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311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4CF363-1387-41D6-9B91-910CD48BBD57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F3FDB3-6B7D-4283-B852-90938B4962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8069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028A0F-DC26-7F3C-BA40-B815661C87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2950" y="1697757"/>
            <a:ext cx="8420100" cy="2609835"/>
          </a:xfrm>
          <a:ln w="28575"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4000" b="1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드론</a:t>
            </a:r>
            <a:r>
              <a:rPr lang="en-US" altLang="ko-KR" sz="40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4000" b="1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버티포트</a:t>
            </a:r>
            <a:r>
              <a:rPr lang="ko-KR" altLang="en-US" sz="40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환경을 위한</a:t>
            </a:r>
            <a:br>
              <a:rPr lang="en-US" altLang="ko-KR" sz="40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r>
              <a:rPr lang="ko-KR" altLang="en-US" sz="40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웹 기반 </a:t>
            </a:r>
            <a:r>
              <a:rPr lang="en-US" altLang="ko-KR" sz="40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CCTV </a:t>
            </a:r>
            <a:r>
              <a:rPr lang="ko-KR" altLang="en-US" sz="40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통합 감시 시스템</a:t>
            </a:r>
            <a:br>
              <a:rPr lang="en-US" altLang="ko-KR" sz="40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r>
              <a:rPr lang="ko-KR" altLang="en-US" sz="40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설계 및 구현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1FB6780-EBFB-1DBE-0F02-538482124A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6406" y="4574731"/>
            <a:ext cx="8213188" cy="388523"/>
          </a:xfrm>
        </p:spPr>
        <p:txBody>
          <a:bodyPr>
            <a:normAutofit/>
          </a:bodyPr>
          <a:lstStyle/>
          <a:p>
            <a:r>
              <a:rPr lang="ko-KR" altLang="en-US" sz="1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서형철</a:t>
            </a:r>
            <a:r>
              <a:rPr lang="en-US" altLang="ko-KR" sz="1800" baseline="30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*</a:t>
            </a:r>
            <a:r>
              <a:rPr lang="en-US" altLang="ko-KR" sz="1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이상민</a:t>
            </a:r>
            <a:r>
              <a:rPr lang="en-US" altLang="ko-KR" sz="1800" baseline="30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*</a:t>
            </a:r>
            <a:r>
              <a:rPr lang="en-US" altLang="ko-KR" sz="1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유지훈</a:t>
            </a:r>
            <a:r>
              <a:rPr lang="en-US" altLang="ko-KR" sz="1800" baseline="30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*</a:t>
            </a:r>
            <a:r>
              <a:rPr lang="en-US" altLang="ko-KR" sz="1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8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이견희</a:t>
            </a:r>
            <a:r>
              <a:rPr lang="en-US" altLang="ko-KR" sz="1800" baseline="30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*</a:t>
            </a:r>
            <a:r>
              <a:rPr lang="en-US" altLang="ko-KR" sz="1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이준섭</a:t>
            </a:r>
            <a:r>
              <a:rPr lang="en-US" altLang="ko-KR" sz="1800" baseline="30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*</a:t>
            </a:r>
            <a:r>
              <a:rPr lang="en-US" altLang="ko-KR" sz="1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김진규</a:t>
            </a:r>
            <a:r>
              <a:rPr lang="en-US" altLang="ko-KR" sz="1800" baseline="30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**</a:t>
            </a:r>
            <a:r>
              <a:rPr lang="en-US" altLang="ko-KR" sz="1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8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정설영</a:t>
            </a:r>
            <a:r>
              <a:rPr lang="en-US" altLang="ko-KR" sz="1800" baseline="30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***</a:t>
            </a:r>
            <a:endParaRPr lang="ko-KR" altLang="en-US" sz="1800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DAE719-9B0E-A17C-709C-6EB8EFB0CBC0}"/>
              </a:ext>
            </a:extLst>
          </p:cNvPr>
          <p:cNvSpPr txBox="1"/>
          <p:nvPr/>
        </p:nvSpPr>
        <p:spPr>
          <a:xfrm>
            <a:off x="132996" y="6457074"/>
            <a:ext cx="59483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※ "</a:t>
            </a:r>
            <a:r>
              <a:rPr lang="ko-KR" altLang="en-US" sz="9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본 연구는 과학기술정보통신부 및 정보통신기획평가원의 </a:t>
            </a:r>
            <a:r>
              <a:rPr lang="en-US" altLang="ko-KR" sz="9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SW</a:t>
            </a:r>
            <a:r>
              <a:rPr lang="ko-KR" altLang="en-US" sz="9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중심대학사업의 연구결과로 수행되었음</a:t>
            </a:r>
            <a:r>
              <a:rPr lang="en-US" altLang="ko-KR" sz="9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"(2021-0-01082)</a:t>
            </a:r>
            <a:endParaRPr lang="ko-KR" altLang="en-US" sz="900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9A67B-2EE9-8DC9-A3AF-67031009FA4C}"/>
              </a:ext>
            </a:extLst>
          </p:cNvPr>
          <p:cNvSpPr txBox="1"/>
          <p:nvPr/>
        </p:nvSpPr>
        <p:spPr>
          <a:xfrm>
            <a:off x="132996" y="5765218"/>
            <a:ext cx="5759863" cy="621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en-US" altLang="ko-KR" sz="1050" dirty="0">
                <a:latin typeface="나눔바른고딕" panose="020B0603020101020101" pitchFamily="50" charset="-127"/>
                <a:ea typeface="나눔바른고딕" panose="020B0603020101020101" pitchFamily="50" charset="-127"/>
                <a:cs typeface="Calibri" panose="020F0502020204030204" pitchFamily="34" charset="0"/>
              </a:rPr>
              <a:t>* </a:t>
            </a:r>
            <a:r>
              <a:rPr lang="ko-KR" altLang="en-US" sz="1050" dirty="0">
                <a:latin typeface="나눔바른고딕" panose="020B0603020101020101" pitchFamily="50" charset="-127"/>
                <a:ea typeface="나눔바른고딕" panose="020B0603020101020101" pitchFamily="50" charset="-127"/>
                <a:cs typeface="Calibri" panose="020F0502020204030204" pitchFamily="34" charset="0"/>
              </a:rPr>
              <a:t>경북대학교 컴퓨터학부</a:t>
            </a:r>
            <a:r>
              <a:rPr lang="en-US" altLang="ko-KR" sz="1050" dirty="0">
                <a:latin typeface="나눔바른고딕" panose="020B0603020101020101" pitchFamily="50" charset="-127"/>
                <a:ea typeface="나눔바른고딕" panose="020B0603020101020101" pitchFamily="50" charset="-127"/>
                <a:cs typeface="Calibri" panose="020F0502020204030204" pitchFamily="34" charset="0"/>
              </a:rPr>
              <a:t>, {wjdqh6544, lsmin3388, knu12370, ef3232, lee980605}@knu.ac.kr</a:t>
            </a:r>
          </a:p>
          <a:p>
            <a:pPr algn="just">
              <a:lnSpc>
                <a:spcPct val="110000"/>
              </a:lnSpc>
            </a:pPr>
            <a:r>
              <a:rPr lang="en-US" altLang="ko-KR" sz="1050" dirty="0">
                <a:latin typeface="나눔바른고딕" panose="020B0603020101020101" pitchFamily="50" charset="-127"/>
                <a:ea typeface="나눔바른고딕" panose="020B0603020101020101" pitchFamily="50" charset="-127"/>
                <a:cs typeface="Calibri" panose="020F0502020204030204" pitchFamily="34" charset="0"/>
              </a:rPr>
              <a:t>** </a:t>
            </a:r>
            <a:r>
              <a:rPr lang="ko-KR" altLang="en-US" sz="1050" dirty="0">
                <a:latin typeface="나눔바른고딕" panose="020B0603020101020101" pitchFamily="50" charset="-127"/>
                <a:ea typeface="나눔바른고딕" panose="020B0603020101020101" pitchFamily="50" charset="-127"/>
                <a:cs typeface="Calibri" panose="020F0502020204030204" pitchFamily="34" charset="0"/>
              </a:rPr>
              <a:t>㈜ </a:t>
            </a:r>
            <a:r>
              <a:rPr lang="ko-KR" altLang="en-US" sz="1050" dirty="0" err="1">
                <a:latin typeface="나눔바른고딕" panose="020B0603020101020101" pitchFamily="50" charset="-127"/>
                <a:ea typeface="나눔바른고딕" panose="020B0603020101020101" pitchFamily="50" charset="-127"/>
                <a:cs typeface="Calibri" panose="020F0502020204030204" pitchFamily="34" charset="0"/>
              </a:rPr>
              <a:t>엠엠피</a:t>
            </a:r>
            <a:r>
              <a:rPr lang="en-US" altLang="ko-KR" sz="1050" dirty="0">
                <a:latin typeface="나눔바른고딕" panose="020B0603020101020101" pitchFamily="50" charset="-127"/>
                <a:ea typeface="나눔바른고딕" panose="020B0603020101020101" pitchFamily="50" charset="-127"/>
                <a:cs typeface="Calibri" panose="020F0502020204030204" pitchFamily="34" charset="0"/>
              </a:rPr>
              <a:t>, dmmp@naver.com</a:t>
            </a:r>
          </a:p>
          <a:p>
            <a:pPr algn="just">
              <a:lnSpc>
                <a:spcPct val="110000"/>
              </a:lnSpc>
            </a:pPr>
            <a:r>
              <a:rPr lang="en-US" altLang="ko-KR" sz="1050" dirty="0">
                <a:latin typeface="나눔바른고딕" panose="020B0603020101020101" pitchFamily="50" charset="-127"/>
                <a:ea typeface="나눔바른고딕" panose="020B0603020101020101" pitchFamily="50" charset="-127"/>
                <a:cs typeface="Calibri" panose="020F0502020204030204" pitchFamily="34" charset="0"/>
              </a:rPr>
              <a:t>*** </a:t>
            </a:r>
            <a:r>
              <a:rPr lang="ko-KR" altLang="en-US" sz="1050" dirty="0">
                <a:latin typeface="나눔바른고딕" panose="020B0603020101020101" pitchFamily="50" charset="-127"/>
                <a:ea typeface="나눔바른고딕" panose="020B0603020101020101" pitchFamily="50" charset="-127"/>
                <a:cs typeface="Calibri" panose="020F0502020204030204" pitchFamily="34" charset="0"/>
              </a:rPr>
              <a:t>경북대학교 소프트웨어교육원</a:t>
            </a:r>
            <a:r>
              <a:rPr lang="en-US" altLang="ko-KR" sz="1050" dirty="0">
                <a:latin typeface="나눔바른고딕" panose="020B0603020101020101" pitchFamily="50" charset="-127"/>
                <a:ea typeface="나눔바른고딕" panose="020B0603020101020101" pitchFamily="50" charset="-127"/>
                <a:cs typeface="Calibri" panose="020F0502020204030204" pitchFamily="34" charset="0"/>
              </a:rPr>
              <a:t>(Corresponding</a:t>
            </a:r>
            <a:r>
              <a:rPr lang="ko-KR" altLang="en-US" sz="1050" dirty="0">
                <a:latin typeface="나눔바른고딕" panose="020B0603020101020101" pitchFamily="50" charset="-127"/>
                <a:ea typeface="나눔바른고딕" panose="020B0603020101020101" pitchFamily="50" charset="-127"/>
                <a:cs typeface="Calibri" panose="020F0502020204030204" pitchFamily="34" charset="0"/>
              </a:rPr>
              <a:t> </a:t>
            </a:r>
            <a:r>
              <a:rPr lang="en-US" altLang="ko-KR" sz="1050" dirty="0">
                <a:latin typeface="나눔바른고딕" panose="020B0603020101020101" pitchFamily="50" charset="-127"/>
                <a:ea typeface="나눔바른고딕" panose="020B0603020101020101" pitchFamily="50" charset="-127"/>
                <a:cs typeface="Calibri" panose="020F0502020204030204" pitchFamily="34" charset="0"/>
              </a:rPr>
              <a:t>Author), snowflower@knu.ac.kr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C0E8320-8509-6A38-37A2-F4B44C02D0D3}"/>
              </a:ext>
            </a:extLst>
          </p:cNvPr>
          <p:cNvSpPr txBox="1">
            <a:spLocks/>
          </p:cNvSpPr>
          <p:nvPr/>
        </p:nvSpPr>
        <p:spPr>
          <a:xfrm>
            <a:off x="846406" y="1092782"/>
            <a:ext cx="8213188" cy="4139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&lt;2026</a:t>
            </a:r>
            <a:r>
              <a:rPr lang="ko-KR" altLang="en-US" sz="2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한국정보기술학회 하계종합학술대회 및 대학생논문경진대회 </a:t>
            </a:r>
            <a:r>
              <a:rPr lang="en-US" altLang="ko-KR" sz="2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2-R-08&gt;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4D09D80-7572-FCAF-DD83-23B840247B70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1528" y="6304306"/>
            <a:ext cx="2282810" cy="310678"/>
          </a:xfrm>
          <a:prstGeom prst="rect">
            <a:avLst/>
          </a:prstGeom>
        </p:spPr>
      </p:pic>
      <p:pic>
        <p:nvPicPr>
          <p:cNvPr id="8" name="그림 7" descr="엠엠피 2026년 기업정보 - 직원수, 근무환경, 복리후생 등 | 잡코리아">
            <a:extLst>
              <a:ext uri="{FF2B5EF4-FFF2-40B4-BE49-F238E27FC236}">
                <a16:creationId xmlns:a16="http://schemas.microsoft.com/office/drawing/2014/main" id="{9A64C9C5-A8E7-B36B-69C2-A70C87C90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4085" y="5744638"/>
            <a:ext cx="1788963" cy="47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309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2468F-51BF-20D1-8C18-10AEA161C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Background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3FDF47-350F-7C2F-1B0F-096F2E8BB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182" y="1225550"/>
            <a:ext cx="9487390" cy="18978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드론 물류 및 </a:t>
            </a:r>
            <a:r>
              <a:rPr lang="en-US" altLang="ko-KR" sz="2000" dirty="0"/>
              <a:t>UAM </a:t>
            </a:r>
            <a:r>
              <a:rPr lang="ko-KR" altLang="en-US" sz="2000" dirty="0"/>
              <a:t>실증 확대 → 이</a:t>
            </a:r>
            <a:r>
              <a:rPr lang="en-US" altLang="ko-KR" sz="2000" dirty="0"/>
              <a:t>·</a:t>
            </a:r>
            <a:r>
              <a:rPr lang="ko-KR" altLang="en-US" sz="2000" dirty="0"/>
              <a:t>착륙장 </a:t>
            </a:r>
            <a:r>
              <a:rPr lang="ko-KR" altLang="en-US" sz="2000" b="1" dirty="0">
                <a:solidFill>
                  <a:srgbClr val="FF0000"/>
                </a:solidFill>
              </a:rPr>
              <a:t>안전 관리</a:t>
            </a:r>
            <a:r>
              <a:rPr lang="ko-KR" altLang="en-US" sz="2000" b="1" dirty="0"/>
              <a:t> </a:t>
            </a:r>
            <a:r>
              <a:rPr lang="ko-KR" altLang="en-US" sz="2000" dirty="0"/>
              <a:t>및 </a:t>
            </a:r>
            <a:r>
              <a:rPr lang="ko-KR" altLang="en-US" sz="2000" b="1" dirty="0">
                <a:solidFill>
                  <a:srgbClr val="FF0000"/>
                </a:solidFill>
              </a:rPr>
              <a:t>보안 통제 </a:t>
            </a:r>
            <a:r>
              <a:rPr lang="ko-KR" altLang="en-US" sz="2000" dirty="0"/>
              <a:t>요구 증가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수동 모니터링 중심 운영 방식 한계 → </a:t>
            </a:r>
            <a:r>
              <a:rPr lang="ko-KR" altLang="en-US" sz="2000" b="1" dirty="0">
                <a:solidFill>
                  <a:srgbClr val="FF0000"/>
                </a:solidFill>
              </a:rPr>
              <a:t>실시간</a:t>
            </a:r>
            <a:r>
              <a:rPr lang="ko-KR" altLang="en-US" sz="2000" dirty="0"/>
              <a:t> 위험 대응 체계 필요성 증가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항공 안전 수준에 부합하는 </a:t>
            </a:r>
            <a:r>
              <a:rPr lang="ko-KR" altLang="en-US" sz="2000" b="1" dirty="0">
                <a:solidFill>
                  <a:srgbClr val="FF0000"/>
                </a:solidFill>
              </a:rPr>
              <a:t>접근 통제 </a:t>
            </a:r>
            <a:r>
              <a:rPr lang="ko-KR" altLang="en-US" sz="2000" dirty="0"/>
              <a:t>및 </a:t>
            </a:r>
            <a:r>
              <a:rPr lang="ko-KR" altLang="en-US" sz="2000" b="1" dirty="0">
                <a:solidFill>
                  <a:srgbClr val="FF0000"/>
                </a:solidFill>
              </a:rPr>
              <a:t>상황 감지 인프라 </a:t>
            </a:r>
            <a:r>
              <a:rPr lang="ko-KR" altLang="en-US" sz="2000" dirty="0"/>
              <a:t>확보 필요성 증가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1D1C9F-17E4-C642-B5E0-6BC74D420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4DA9954-FD99-75BB-64A4-C49B08B4B809}"/>
              </a:ext>
            </a:extLst>
          </p:cNvPr>
          <p:cNvSpPr txBox="1">
            <a:spLocks/>
          </p:cNvSpPr>
          <p:nvPr/>
        </p:nvSpPr>
        <p:spPr>
          <a:xfrm>
            <a:off x="191182" y="2820037"/>
            <a:ext cx="608300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Calibri" panose="020F0502020204030204" pitchFamily="34" charset="0"/>
                <a:ea typeface="나눔바른고딕" panose="020B0603020101020101" pitchFamily="50" charset="-127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Contributions</a:t>
            </a:r>
            <a:endParaRPr lang="ko-KR" altLang="en-US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D7E99663-2C00-D155-CB88-205ACBDE9FA6}"/>
              </a:ext>
            </a:extLst>
          </p:cNvPr>
          <p:cNvSpPr txBox="1">
            <a:spLocks/>
          </p:cNvSpPr>
          <p:nvPr/>
        </p:nvSpPr>
        <p:spPr>
          <a:xfrm>
            <a:off x="191182" y="4131533"/>
            <a:ext cx="9487390" cy="25899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1800" dirty="0" err="1"/>
              <a:t>버티포트</a:t>
            </a:r>
            <a:r>
              <a:rPr lang="ko-KR" altLang="en-US" sz="1800" dirty="0"/>
              <a:t> 환경에 적합한 웹 기반 </a:t>
            </a:r>
            <a:r>
              <a:rPr lang="en-US" altLang="ko-KR" sz="1800" dirty="0"/>
              <a:t>CCTV </a:t>
            </a:r>
            <a:r>
              <a:rPr lang="ko-KR" altLang="en-US" sz="1800" dirty="0"/>
              <a:t>통합 관제 시스템 설계 및 구현 방법 제안</a:t>
            </a:r>
            <a:endParaRPr lang="en-US" altLang="ko-KR" sz="1800" dirty="0"/>
          </a:p>
          <a:p>
            <a:pPr>
              <a:lnSpc>
                <a:spcPct val="150000"/>
              </a:lnSpc>
            </a:pPr>
            <a:r>
              <a:rPr lang="en-US" altLang="ko-KR" sz="1800" dirty="0"/>
              <a:t>RTSP </a:t>
            </a:r>
            <a:r>
              <a:rPr lang="ko-KR" altLang="en-US" sz="1800" dirty="0"/>
              <a:t>및 </a:t>
            </a:r>
            <a:r>
              <a:rPr lang="en-US" altLang="ko-KR" sz="1800" dirty="0"/>
              <a:t>HLS </a:t>
            </a:r>
            <a:r>
              <a:rPr lang="ko-KR" altLang="en-US" sz="1800" dirty="0"/>
              <a:t>프로토콜 활용 → 다중 </a:t>
            </a:r>
            <a:r>
              <a:rPr lang="en-US" altLang="ko-KR" sz="1800" dirty="0"/>
              <a:t>CCTV </a:t>
            </a:r>
            <a:r>
              <a:rPr lang="ko-KR" altLang="en-US" sz="1800" dirty="0"/>
              <a:t>영상의 저장 및 송출 지원하는 스트리밍 방식 구현</a:t>
            </a:r>
            <a:endParaRPr lang="en-US" altLang="ko-KR" sz="1800" dirty="0"/>
          </a:p>
          <a:p>
            <a:pPr>
              <a:lnSpc>
                <a:spcPct val="150000"/>
              </a:lnSpc>
            </a:pPr>
            <a:r>
              <a:rPr lang="en-US" altLang="ko-KR" sz="1800" dirty="0"/>
              <a:t>PTZ </a:t>
            </a:r>
            <a:r>
              <a:rPr lang="ko-KR" altLang="en-US" sz="1800" dirty="0"/>
              <a:t>카메라와  </a:t>
            </a:r>
            <a:r>
              <a:rPr lang="en-US" altLang="ko-KR" sz="1800" dirty="0"/>
              <a:t>ONVIF </a:t>
            </a:r>
            <a:r>
              <a:rPr lang="ko-KR" altLang="en-US" sz="1800" dirty="0"/>
              <a:t>프로토콜 활용 → 제한된 </a:t>
            </a:r>
            <a:r>
              <a:rPr lang="en-US" altLang="ko-KR" sz="1800" dirty="0"/>
              <a:t>CCTV</a:t>
            </a:r>
            <a:r>
              <a:rPr lang="ko-KR" altLang="en-US" sz="1800" dirty="0"/>
              <a:t>로 </a:t>
            </a:r>
            <a:r>
              <a:rPr lang="ko-KR" altLang="en-US" sz="1800" dirty="0" err="1"/>
              <a:t>버티포트</a:t>
            </a:r>
            <a:r>
              <a:rPr lang="ko-KR" altLang="en-US" sz="1800" dirty="0"/>
              <a:t> 전체를 효율적으로 관제</a:t>
            </a:r>
            <a:endParaRPr lang="en-US" altLang="ko-KR" sz="1800" dirty="0"/>
          </a:p>
          <a:p>
            <a:pPr marL="0" indent="450850">
              <a:lnSpc>
                <a:spcPct val="150000"/>
              </a:lnSpc>
              <a:buNone/>
            </a:pPr>
            <a:r>
              <a:rPr lang="ko-KR" altLang="en-US" sz="2000" b="1" dirty="0"/>
              <a:t>⇒ </a:t>
            </a:r>
            <a:r>
              <a:rPr lang="ko-KR" altLang="en-US" sz="2000" b="1" dirty="0" err="1"/>
              <a:t>버티포트</a:t>
            </a:r>
            <a:r>
              <a:rPr lang="ko-KR" altLang="en-US" sz="2000" b="1" dirty="0"/>
              <a:t> 관제 기준 및 운영 체계 수립을 위한 기술적 기반 제공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786A63DC-B080-688F-C30B-573C20915B71}"/>
              </a:ext>
            </a:extLst>
          </p:cNvPr>
          <p:cNvCxnSpPr>
            <a:cxnSpLocks/>
          </p:cNvCxnSpPr>
          <p:nvPr/>
        </p:nvCxnSpPr>
        <p:spPr>
          <a:xfrm>
            <a:off x="0" y="3972894"/>
            <a:ext cx="9906000" cy="0"/>
          </a:xfrm>
          <a:prstGeom prst="line">
            <a:avLst/>
          </a:prstGeom>
          <a:ln w="63500" cmpd="thickThin">
            <a:gradFill flip="none" rotWithShape="1"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10000"/>
                  </a:schemeClr>
                </a:gs>
              </a:gsLst>
              <a:lin ang="108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24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45217-C2FA-7FE5-CA5C-EB8D6C521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System Architecture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FB92E3-255C-BA8A-D21F-DC654078A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EC0A36C5-45AA-81AE-72D1-413BC5E3E511}"/>
              </a:ext>
            </a:extLst>
          </p:cNvPr>
          <p:cNvSpPr/>
          <p:nvPr/>
        </p:nvSpPr>
        <p:spPr>
          <a:xfrm>
            <a:off x="4362451" y="454766"/>
            <a:ext cx="5543550" cy="10518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0BF5D7C-6E62-715F-5245-FEA99FC85353}"/>
              </a:ext>
            </a:extLst>
          </p:cNvPr>
          <p:cNvGrpSpPr/>
          <p:nvPr/>
        </p:nvGrpSpPr>
        <p:grpSpPr>
          <a:xfrm>
            <a:off x="6508371" y="74570"/>
            <a:ext cx="363051" cy="605902"/>
            <a:chOff x="3151762" y="794425"/>
            <a:chExt cx="479898" cy="800911"/>
          </a:xfrm>
        </p:grpSpPr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50E4CFD6-B5D7-F8B1-6A8D-41247A665711}"/>
                </a:ext>
              </a:extLst>
            </p:cNvPr>
            <p:cNvSpPr/>
            <p:nvPr/>
          </p:nvSpPr>
          <p:spPr>
            <a:xfrm>
              <a:off x="3232825" y="794425"/>
              <a:ext cx="311286" cy="31128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78" name="직선 연결선 77">
              <a:extLst>
                <a:ext uri="{FF2B5EF4-FFF2-40B4-BE49-F238E27FC236}">
                  <a16:creationId xmlns:a16="http://schemas.microsoft.com/office/drawing/2014/main" id="{25061932-A792-334C-1BB5-9948FB3D35D9}"/>
                </a:ext>
              </a:extLst>
            </p:cNvPr>
            <p:cNvCxnSpPr>
              <a:cxnSpLocks/>
              <a:stCxn id="77" idx="4"/>
            </p:cNvCxnSpPr>
            <p:nvPr/>
          </p:nvCxnSpPr>
          <p:spPr>
            <a:xfrm>
              <a:off x="3388468" y="1105711"/>
              <a:ext cx="0" cy="3372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2AB5CBE5-06F3-C750-E447-A454F4866294}"/>
                </a:ext>
              </a:extLst>
            </p:cNvPr>
            <p:cNvCxnSpPr>
              <a:cxnSpLocks/>
            </p:cNvCxnSpPr>
            <p:nvPr/>
          </p:nvCxnSpPr>
          <p:spPr>
            <a:xfrm>
              <a:off x="3388468" y="1442936"/>
              <a:ext cx="155643" cy="152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CDB6612A-CDD0-9EEB-7546-BC3C42532E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2825" y="1442936"/>
              <a:ext cx="155643" cy="152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5530BD32-C473-E85D-DA52-4EFD034340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51762" y="1314855"/>
              <a:ext cx="4798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2E1DFD04-4C11-78DE-3BF6-331B3B1269B1}"/>
              </a:ext>
            </a:extLst>
          </p:cNvPr>
          <p:cNvSpPr/>
          <p:nvPr/>
        </p:nvSpPr>
        <p:spPr>
          <a:xfrm>
            <a:off x="5975963" y="1230813"/>
            <a:ext cx="1633612" cy="58154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42C68A1-E0A1-EB22-BF38-4A28DC17EBFA}"/>
              </a:ext>
            </a:extLst>
          </p:cNvPr>
          <p:cNvSpPr/>
          <p:nvPr/>
        </p:nvSpPr>
        <p:spPr>
          <a:xfrm>
            <a:off x="6687443" y="2597775"/>
            <a:ext cx="1383011" cy="806854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Application</a:t>
            </a: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0522C1-92B0-0FA2-8886-7D24923948A1}"/>
              </a:ext>
            </a:extLst>
          </p:cNvPr>
          <p:cNvSpPr/>
          <p:nvPr/>
        </p:nvSpPr>
        <p:spPr>
          <a:xfrm>
            <a:off x="5094322" y="4076019"/>
            <a:ext cx="1220493" cy="71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</a:t>
            </a:r>
          </a:p>
          <a:p>
            <a:pPr algn="ctr"/>
            <a:r>
              <a:rPr lang="en-US" altLang="ko-KR" sz="2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Server</a:t>
            </a:r>
            <a:endParaRPr lang="ko-KR" altLang="en-US" sz="2000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246C14A-13AB-E993-9533-38D41B533A70}"/>
              </a:ext>
            </a:extLst>
          </p:cNvPr>
          <p:cNvSpPr/>
          <p:nvPr/>
        </p:nvSpPr>
        <p:spPr>
          <a:xfrm>
            <a:off x="5105400" y="2643145"/>
            <a:ext cx="1222087" cy="712971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</a:t>
            </a:r>
            <a:endParaRPr lang="ko-KR" altLang="en-US" sz="2000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6" name="원통형 85">
            <a:extLst>
              <a:ext uri="{FF2B5EF4-FFF2-40B4-BE49-F238E27FC236}">
                <a16:creationId xmlns:a16="http://schemas.microsoft.com/office/drawing/2014/main" id="{3A9630AC-1C19-0CE7-CA8F-D773848592D0}"/>
              </a:ext>
            </a:extLst>
          </p:cNvPr>
          <p:cNvSpPr/>
          <p:nvPr/>
        </p:nvSpPr>
        <p:spPr>
          <a:xfrm>
            <a:off x="3258447" y="2583629"/>
            <a:ext cx="1075400" cy="837475"/>
          </a:xfrm>
          <a:prstGeom prst="can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ysClr val="windowText" lastClr="000000"/>
                </a:solidFill>
              </a:rPr>
              <a:t>Storage</a:t>
            </a:r>
            <a:endParaRPr lang="ko-KR" altLang="en-US" sz="2000" dirty="0">
              <a:solidFill>
                <a:sysClr val="windowText" lastClr="000000"/>
              </a:solidFill>
            </a:endParaRP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D9A0694D-3B0F-514C-B7A4-910908A93E63}"/>
              </a:ext>
            </a:extLst>
          </p:cNvPr>
          <p:cNvCxnSpPr>
            <a:cxnSpLocks/>
            <a:stCxn id="85" idx="2"/>
            <a:endCxn id="84" idx="0"/>
          </p:cNvCxnSpPr>
          <p:nvPr/>
        </p:nvCxnSpPr>
        <p:spPr>
          <a:xfrm flipH="1">
            <a:off x="5704569" y="3356116"/>
            <a:ext cx="11875" cy="71990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0AE5EB40-BC7E-2CED-FD65-3C2B19ED571D}"/>
              </a:ext>
            </a:extLst>
          </p:cNvPr>
          <p:cNvSpPr txBox="1"/>
          <p:nvPr/>
        </p:nvSpPr>
        <p:spPr>
          <a:xfrm>
            <a:off x="4950490" y="5115540"/>
            <a:ext cx="1459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Video Stream</a:t>
            </a:r>
          </a:p>
          <a:p>
            <a:pPr algn="ctr"/>
            <a:r>
              <a:rPr lang="en-US" altLang="ko-K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(RTSP)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5EBE7F3-B0C2-9D76-6434-DDEA40ED894E}"/>
              </a:ext>
            </a:extLst>
          </p:cNvPr>
          <p:cNvSpPr txBox="1"/>
          <p:nvPr/>
        </p:nvSpPr>
        <p:spPr>
          <a:xfrm>
            <a:off x="3588595" y="3815483"/>
            <a:ext cx="15375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Video File</a:t>
            </a:r>
          </a:p>
          <a:p>
            <a:pPr algn="ctr"/>
            <a:r>
              <a:rPr lang="en-US" altLang="ko-KR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(Persistence)</a:t>
            </a:r>
          </a:p>
        </p:txBody>
      </p: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420BE84F-C3EA-D22C-65CB-ECC555E8697B}"/>
              </a:ext>
            </a:extLst>
          </p:cNvPr>
          <p:cNvCxnSpPr>
            <a:cxnSpLocks/>
            <a:stCxn id="84" idx="1"/>
            <a:endCxn id="86" idx="3"/>
          </p:cNvCxnSpPr>
          <p:nvPr/>
        </p:nvCxnSpPr>
        <p:spPr>
          <a:xfrm rot="10800000">
            <a:off x="3796148" y="3421105"/>
            <a:ext cx="1298175" cy="1010935"/>
          </a:xfrm>
          <a:prstGeom prst="bentConnector2">
            <a:avLst/>
          </a:prstGeom>
          <a:ln w="12700">
            <a:solidFill>
              <a:schemeClr val="tx1"/>
            </a:solidFill>
            <a:headEnd w="med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CBF2072-349C-45E9-B7EC-6840BE31E28F}"/>
              </a:ext>
            </a:extLst>
          </p:cNvPr>
          <p:cNvSpPr txBox="1"/>
          <p:nvPr/>
        </p:nvSpPr>
        <p:spPr>
          <a:xfrm>
            <a:off x="7266019" y="5109230"/>
            <a:ext cx="13228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PTZ Control</a:t>
            </a:r>
          </a:p>
          <a:p>
            <a:pPr algn="ctr"/>
            <a:r>
              <a:rPr lang="en-US" altLang="ko-K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(ONVIF)</a:t>
            </a:r>
            <a:endParaRPr lang="ko-KR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85F50C43-1BBD-6C38-3B82-50B8C01BC857}"/>
              </a:ext>
            </a:extLst>
          </p:cNvPr>
          <p:cNvCxnSpPr>
            <a:cxnSpLocks/>
            <a:endCxn id="84" idx="2"/>
          </p:cNvCxnSpPr>
          <p:nvPr/>
        </p:nvCxnSpPr>
        <p:spPr>
          <a:xfrm rot="16200000" flipV="1">
            <a:off x="5560812" y="4931816"/>
            <a:ext cx="895808" cy="608294"/>
          </a:xfrm>
          <a:prstGeom prst="bentConnector3">
            <a:avLst>
              <a:gd name="adj1" fmla="val 66481"/>
            </a:avLst>
          </a:prstGeom>
          <a:ln w="12700">
            <a:solidFill>
              <a:schemeClr val="tx1"/>
            </a:solidFill>
            <a:headEnd w="med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1606B48-9EE8-571F-191C-CA451BB2800A}"/>
              </a:ext>
            </a:extLst>
          </p:cNvPr>
          <p:cNvCxnSpPr>
            <a:cxnSpLocks/>
            <a:stCxn id="86" idx="4"/>
            <a:endCxn id="85" idx="1"/>
          </p:cNvCxnSpPr>
          <p:nvPr/>
        </p:nvCxnSpPr>
        <p:spPr>
          <a:xfrm flipV="1">
            <a:off x="4333847" y="2999631"/>
            <a:ext cx="771553" cy="2736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37F3C8A2-61FF-6FA6-C555-3A88396D7447}"/>
              </a:ext>
            </a:extLst>
          </p:cNvPr>
          <p:cNvCxnSpPr>
            <a:cxnSpLocks/>
            <a:stCxn id="83" idx="1"/>
            <a:endCxn id="85" idx="3"/>
          </p:cNvCxnSpPr>
          <p:nvPr/>
        </p:nvCxnSpPr>
        <p:spPr>
          <a:xfrm flipH="1" flipV="1">
            <a:off x="6327487" y="2999631"/>
            <a:ext cx="359956" cy="157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57C53821-49D8-FC1D-C873-DA773044784C}"/>
              </a:ext>
            </a:extLst>
          </p:cNvPr>
          <p:cNvCxnSpPr>
            <a:cxnSpLocks/>
            <a:stCxn id="82" idx="2"/>
            <a:endCxn id="83" idx="0"/>
          </p:cNvCxnSpPr>
          <p:nvPr/>
        </p:nvCxnSpPr>
        <p:spPr>
          <a:xfrm rot="16200000" flipH="1">
            <a:off x="6693151" y="1911977"/>
            <a:ext cx="785416" cy="58618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B0DBEE38-3761-B2B0-5FD7-83427E02DF3A}"/>
              </a:ext>
            </a:extLst>
          </p:cNvPr>
          <p:cNvGrpSpPr/>
          <p:nvPr/>
        </p:nvGrpSpPr>
        <p:grpSpPr>
          <a:xfrm>
            <a:off x="6034329" y="5797286"/>
            <a:ext cx="1541722" cy="750651"/>
            <a:chOff x="3489428" y="4707473"/>
            <a:chExt cx="1541722" cy="750651"/>
          </a:xfrm>
        </p:grpSpPr>
        <p:pic>
          <p:nvPicPr>
            <p:cNvPr id="97" name="그림 96" descr="CCTV 카메라 문자 모양 솔리드 블랙 일러스트레이션 | 프리미엄 벡터">
              <a:extLst>
                <a:ext uri="{FF2B5EF4-FFF2-40B4-BE49-F238E27FC236}">
                  <a16:creationId xmlns:a16="http://schemas.microsoft.com/office/drawing/2014/main" id="{176C3FB2-DAC8-4277-6F70-AAD4E8725F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89428" y="4707473"/>
              <a:ext cx="750651" cy="750651"/>
            </a:xfrm>
            <a:prstGeom prst="rect">
              <a:avLst/>
            </a:prstGeom>
          </p:spPr>
        </p:pic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9E9DC42-A325-8AD2-FB60-7E156E310F15}"/>
                </a:ext>
              </a:extLst>
            </p:cNvPr>
            <p:cNvSpPr txBox="1"/>
            <p:nvPr/>
          </p:nvSpPr>
          <p:spPr>
            <a:xfrm>
              <a:off x="4116750" y="4951503"/>
              <a:ext cx="9144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CCTV</a:t>
              </a:r>
              <a:endParaRPr lang="ko-KR" altLang="en-US" sz="16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30948F43-DFDB-5269-86DD-235955DC8499}"/>
              </a:ext>
            </a:extLst>
          </p:cNvPr>
          <p:cNvSpPr txBox="1"/>
          <p:nvPr/>
        </p:nvSpPr>
        <p:spPr>
          <a:xfrm>
            <a:off x="6920140" y="361183"/>
            <a:ext cx="6917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</a:t>
            </a:r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02DCA9FD-6D2B-8E95-DA75-38775F21290B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476097" y="4239825"/>
            <a:ext cx="2280809" cy="607277"/>
          </a:xfrm>
          <a:prstGeom prst="bentConnector3">
            <a:avLst>
              <a:gd name="adj1" fmla="val 26162"/>
            </a:avLst>
          </a:prstGeom>
          <a:ln w="12700">
            <a:solidFill>
              <a:schemeClr val="tx1"/>
            </a:solidFill>
            <a:headEnd w="med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57328511-FC37-65A8-2D1A-7A5D233B2004}"/>
              </a:ext>
            </a:extLst>
          </p:cNvPr>
          <p:cNvCxnSpPr>
            <a:cxnSpLocks/>
          </p:cNvCxnSpPr>
          <p:nvPr/>
        </p:nvCxnSpPr>
        <p:spPr>
          <a:xfrm rot="5400000">
            <a:off x="6398405" y="4409546"/>
            <a:ext cx="2254866" cy="29377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w="med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BBB48223-B1B0-3827-1A53-926EEE4DB763}"/>
              </a:ext>
            </a:extLst>
          </p:cNvPr>
          <p:cNvCxnSpPr>
            <a:cxnSpLocks/>
            <a:endCxn id="82" idx="0"/>
          </p:cNvCxnSpPr>
          <p:nvPr/>
        </p:nvCxnSpPr>
        <p:spPr>
          <a:xfrm>
            <a:off x="6792769" y="779522"/>
            <a:ext cx="0" cy="45129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EA5A5A86-216F-631B-4826-305D3DC7B596}"/>
              </a:ext>
            </a:extLst>
          </p:cNvPr>
          <p:cNvSpPr txBox="1"/>
          <p:nvPr/>
        </p:nvSpPr>
        <p:spPr>
          <a:xfrm>
            <a:off x="8352968" y="5802847"/>
            <a:ext cx="13223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Camera</a:t>
            </a:r>
          </a:p>
          <a:p>
            <a:r>
              <a:rPr lang="en-US" altLang="ko-KR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Layer</a:t>
            </a:r>
            <a:endParaRPr lang="ko-KR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4A5D658-BC4B-FAC2-FB9E-5515D9D69587}"/>
              </a:ext>
            </a:extLst>
          </p:cNvPr>
          <p:cNvSpPr txBox="1"/>
          <p:nvPr/>
        </p:nvSpPr>
        <p:spPr>
          <a:xfrm>
            <a:off x="8353340" y="2745403"/>
            <a:ext cx="16921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Application</a:t>
            </a:r>
          </a:p>
          <a:p>
            <a:r>
              <a:rPr lang="en-US" altLang="ko-KR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Layer</a:t>
            </a:r>
            <a:endParaRPr lang="ko-KR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CA23633-995F-4861-AD29-3AA3CF57F5EB}"/>
              </a:ext>
            </a:extLst>
          </p:cNvPr>
          <p:cNvSpPr txBox="1"/>
          <p:nvPr/>
        </p:nvSpPr>
        <p:spPr>
          <a:xfrm>
            <a:off x="8353961" y="3924207"/>
            <a:ext cx="149669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</a:t>
            </a:r>
          </a:p>
          <a:p>
            <a:r>
              <a:rPr lang="en-US" altLang="ko-KR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</a:p>
          <a:p>
            <a:r>
              <a:rPr lang="en-US" altLang="ko-KR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Layer</a:t>
            </a:r>
            <a:endParaRPr lang="ko-KR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D1C123C-6319-20E1-305B-4D87F638828E}"/>
              </a:ext>
            </a:extLst>
          </p:cNvPr>
          <p:cNvSpPr txBox="1"/>
          <p:nvPr/>
        </p:nvSpPr>
        <p:spPr>
          <a:xfrm>
            <a:off x="8342262" y="1225550"/>
            <a:ext cx="9181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Client</a:t>
            </a:r>
          </a:p>
          <a:p>
            <a:r>
              <a:rPr lang="en-US" altLang="ko-KR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Layer</a:t>
            </a:r>
            <a:endParaRPr lang="ko-KR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71724C3F-CDF1-7D54-3D12-79CD62AAA139}"/>
              </a:ext>
            </a:extLst>
          </p:cNvPr>
          <p:cNvSpPr/>
          <p:nvPr/>
        </p:nvSpPr>
        <p:spPr>
          <a:xfrm>
            <a:off x="4952999" y="5683867"/>
            <a:ext cx="3249743" cy="933118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3A94368C-35B8-509D-6656-91BAAFEA6343}"/>
              </a:ext>
            </a:extLst>
          </p:cNvPr>
          <p:cNvSpPr/>
          <p:nvPr/>
        </p:nvSpPr>
        <p:spPr>
          <a:xfrm>
            <a:off x="4952999" y="2402189"/>
            <a:ext cx="3260819" cy="1204745"/>
          </a:xfrm>
          <a:prstGeom prst="rect">
            <a:avLst/>
          </a:prstGeom>
          <a:noFill/>
          <a:ln w="2857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DA85C43C-094C-7E58-53DC-050D91FF9D8F}"/>
              </a:ext>
            </a:extLst>
          </p:cNvPr>
          <p:cNvSpPr/>
          <p:nvPr/>
        </p:nvSpPr>
        <p:spPr>
          <a:xfrm>
            <a:off x="4952999" y="1124717"/>
            <a:ext cx="3231316" cy="873754"/>
          </a:xfrm>
          <a:prstGeom prst="rect">
            <a:avLst/>
          </a:prstGeom>
          <a:noFill/>
          <a:ln w="28575"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535168B9-96C5-FABB-BB0F-674D559D7FFC}"/>
              </a:ext>
            </a:extLst>
          </p:cNvPr>
          <p:cNvSpPr/>
          <p:nvPr/>
        </p:nvSpPr>
        <p:spPr>
          <a:xfrm>
            <a:off x="4953000" y="3875531"/>
            <a:ext cx="3249741" cy="107408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내용 개체 틀 2">
            <a:extLst>
              <a:ext uri="{FF2B5EF4-FFF2-40B4-BE49-F238E27FC236}">
                <a16:creationId xmlns:a16="http://schemas.microsoft.com/office/drawing/2014/main" id="{25BD6D47-131B-7E6C-4FFF-66005F61A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769" y="1513669"/>
            <a:ext cx="3693459" cy="77292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[4-Layer Architecture]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6" name="내용 개체 틀 2">
            <a:extLst>
              <a:ext uri="{FF2B5EF4-FFF2-40B4-BE49-F238E27FC236}">
                <a16:creationId xmlns:a16="http://schemas.microsoft.com/office/drawing/2014/main" id="{51E2E19D-090F-2F97-2C7A-38A2A96F0756}"/>
              </a:ext>
            </a:extLst>
          </p:cNvPr>
          <p:cNvSpPr txBox="1">
            <a:spLocks/>
          </p:cNvSpPr>
          <p:nvPr/>
        </p:nvSpPr>
        <p:spPr>
          <a:xfrm>
            <a:off x="191182" y="2392850"/>
            <a:ext cx="9487390" cy="38590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2000" dirty="0"/>
              <a:t>Client Layer</a:t>
            </a:r>
          </a:p>
          <a:p>
            <a:pPr>
              <a:lnSpc>
                <a:spcPct val="150000"/>
              </a:lnSpc>
            </a:pPr>
            <a:r>
              <a:rPr lang="en-US" altLang="ko-KR" sz="2000" dirty="0"/>
              <a:t>Application Layer</a:t>
            </a:r>
          </a:p>
          <a:p>
            <a:pPr>
              <a:lnSpc>
                <a:spcPct val="150000"/>
              </a:lnSpc>
            </a:pPr>
            <a:r>
              <a:rPr lang="en-US" altLang="ko-KR" sz="2000" dirty="0"/>
              <a:t>Media Processing Layer</a:t>
            </a:r>
          </a:p>
          <a:p>
            <a:pPr>
              <a:lnSpc>
                <a:spcPct val="150000"/>
              </a:lnSpc>
            </a:pPr>
            <a:r>
              <a:rPr lang="en-US" altLang="ko-KR" sz="2000" dirty="0"/>
              <a:t>Camera Layer</a:t>
            </a:r>
          </a:p>
        </p:txBody>
      </p:sp>
    </p:spTree>
    <p:extLst>
      <p:ext uri="{BB962C8B-B14F-4D97-AF65-F5344CB8AC3E}">
        <p14:creationId xmlns:p14="http://schemas.microsoft.com/office/powerpoint/2010/main" val="2772098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71D83B-FFCD-D2D8-A697-D293C1AA7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Results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781E21-7568-503F-3B6C-FF61C86F1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3F39F-460C-87B9-B098-1B890C1C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256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AB4B70-88E7-BCF2-5048-05248B11A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Results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8ECD6E-1DD2-1772-2ACF-480FDAF6D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9412D9-9563-37B6-490B-40CB0814B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2725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40F390-DD79-D0E0-8DE8-A9A5A264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Results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0E2E76-8069-A32B-2757-10705604A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F7E06-DD57-62EE-B1C1-64FD94272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895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E57E9-3A46-F87C-87FC-4FB00E99A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Conclusion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BF26D7-FE3F-E3B1-AE3D-584FE73EB7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7D4179-D3B3-A4FE-DEE5-9BD1927AF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1480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B776AD-989C-0791-3339-0CF0D30D5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1E7636-2555-6E54-D2C3-AFD04C7E4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374DB0-7CE1-EBFC-8060-7156A69A6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3FDB3-6B7D-4283-B852-90938B49622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099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</TotalTime>
  <Words>261</Words>
  <Application>Microsoft Office PowerPoint</Application>
  <PresentationFormat>A4 용지(210x297mm)</PresentationFormat>
  <Paragraphs>65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나눔바른고딕</vt:lpstr>
      <vt:lpstr>맑은 고딕</vt:lpstr>
      <vt:lpstr>Aptos</vt:lpstr>
      <vt:lpstr>Aptos Display</vt:lpstr>
      <vt:lpstr>Arial</vt:lpstr>
      <vt:lpstr>Calibri</vt:lpstr>
      <vt:lpstr>Office 테마</vt:lpstr>
      <vt:lpstr>드론 버티포트 환경을 위한 웹 기반 CCTV 통합 감시 시스템 설계 및 구현</vt:lpstr>
      <vt:lpstr>Background</vt:lpstr>
      <vt:lpstr>System Architecture</vt:lpstr>
      <vt:lpstr>Results</vt:lpstr>
      <vt:lpstr>Results</vt:lpstr>
      <vt:lpstr>Results</vt:lpstr>
      <vt:lpstr>Conclusion</vt:lpstr>
      <vt:lpstr>Reference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형철 서</dc:creator>
  <cp:lastModifiedBy>형철 서</cp:lastModifiedBy>
  <cp:revision>30</cp:revision>
  <dcterms:created xsi:type="dcterms:W3CDTF">2026-05-28T08:02:25Z</dcterms:created>
  <dcterms:modified xsi:type="dcterms:W3CDTF">2026-06-02T08:27:38Z</dcterms:modified>
</cp:coreProperties>
</file>