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  <p:sldId id="263" r:id="rId9"/>
  </p:sldIdLst>
  <p:sldSz cx="9906000" cy="6858000" type="A4"/>
  <p:notesSz cx="6769100" cy="9906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585858"/>
    <a:srgbClr val="686868"/>
    <a:srgbClr val="00B050"/>
    <a:srgbClr val="C04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40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510A10-2B46-6C41-EF6F-322DE670F3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7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AF1F4-0182-E99A-2FFE-AD73AAB091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33813" y="0"/>
            <a:ext cx="29337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24A5D-A3B8-4778-A9DA-4B775876F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26B4E-388E-1D1A-FDAA-D90CF5F7AF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09113"/>
            <a:ext cx="29337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4B5F7-E245-F241-9E78-6762AFDE57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33813" y="9409113"/>
            <a:ext cx="29337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35ED6-FD06-458A-AD3C-BAEA74B62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1292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792D4-2236-4BCC-82B9-EFDE4237D23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9963" y="1238250"/>
            <a:ext cx="4829175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2"/>
            <a:ext cx="5415280" cy="3900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C7919-9967-4594-BA69-6AA4737F75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26936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018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576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804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277CA-8C40-9CB0-EF8F-C9B8F180F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607BEA-7076-784F-C692-78D6570AD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F3C772-F370-87A4-B679-0489CCCF9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617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783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094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555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7912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FF9-7114-4A0E-A15B-65FA8910ADA4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00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82" y="-100013"/>
            <a:ext cx="8543925" cy="1325563"/>
          </a:xfrm>
        </p:spPr>
        <p:txBody>
          <a:bodyPr>
            <a:normAutofit/>
          </a:bodyPr>
          <a:lstStyle>
            <a:lvl1pPr>
              <a:defRPr sz="3600">
                <a:latin typeface="Calibri" panose="020F0502020204030204" pitchFamily="34" charset="0"/>
                <a:ea typeface="나눔바른고딕" panose="020B0603020101020101" pitchFamily="50" charset="-127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182" y="1337738"/>
            <a:ext cx="8543925" cy="435133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BFB1-75A8-45D8-9815-6D51969162DC}" type="datetime1">
              <a:rPr lang="ko-KR" altLang="en-US" smtClean="0"/>
              <a:t>2026-06-04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나눔바른펜" panose="020B0503000000000000" pitchFamily="50" charset="-127"/>
                <a:cs typeface="Calibri" panose="020F0502020204030204" pitchFamily="34" charset="0"/>
              </a:defRPr>
            </a:lvl1pPr>
          </a:lstStyle>
          <a:p>
            <a:fld id="{FAF3FDB3-6B7D-4283-B852-90938B49622F}" type="slidenum">
              <a:rPr lang="ko-KR" altLang="en-US" smtClean="0"/>
              <a:pPr/>
              <a:t>‹#›</a:t>
            </a:fld>
            <a:endParaRPr lang="ko-KR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589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E261-70FA-4B05-B101-E8241A98399F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589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75183-7BAE-4892-84CB-0B889C5B3D15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635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CD35-0616-4440-A65A-25EABC695AED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61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A200E-88C1-4785-BF93-9F7BADFEE76C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30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C223B-6D22-4A94-A0EC-30FA4E245CB1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174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4D7F-577A-4A01-960D-6C925617CE76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139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5B33E-84B6-453A-961D-22C022A8F6AA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96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1925E-2F9B-4C38-9F4D-B472DEE7D376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486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830F-FF6B-4884-A8B0-19C316CFC2CE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31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403C5-7F77-4A03-B22F-365027F6DB45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069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28A0F-DC26-7F3C-BA40-B815661C8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1697757"/>
            <a:ext cx="8420100" cy="2609835"/>
          </a:xfrm>
          <a:ln w="28575"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sz="4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드론</a:t>
            </a:r>
            <a:r>
              <a:rPr lang="en-US" altLang="ko-KR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4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버티포트</a:t>
            </a:r>
            <a:r>
              <a:rPr lang="ko-KR" altLang="en-US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환경을 위한</a:t>
            </a:r>
            <a:br>
              <a:rPr lang="en-US" altLang="ko-KR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웹 기반 </a:t>
            </a:r>
            <a:r>
              <a:rPr lang="en-US" altLang="ko-KR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CCTV </a:t>
            </a:r>
            <a:r>
              <a:rPr lang="ko-KR" altLang="en-US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통합 감시 시스템</a:t>
            </a:r>
            <a:br>
              <a:rPr lang="en-US" altLang="ko-KR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설계 및 구현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FB6780-EBFB-1DBE-0F02-538482124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6406" y="4574731"/>
            <a:ext cx="8213188" cy="388523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서형철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이상민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유지훈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이견희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이준섭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김진규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정설영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***</a:t>
            </a:r>
            <a:endParaRPr lang="ko-KR" altLang="en-US" sz="1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AE719-9B0E-A17C-709C-6EB8EFB0CBC0}"/>
              </a:ext>
            </a:extLst>
          </p:cNvPr>
          <p:cNvSpPr txBox="1"/>
          <p:nvPr/>
        </p:nvSpPr>
        <p:spPr>
          <a:xfrm>
            <a:off x="231662" y="6366165"/>
            <a:ext cx="59483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"</a:t>
            </a:r>
            <a:r>
              <a:rPr lang="ko-KR" altLang="en-US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본 연구는 과학기술정보통신부 및 정보통신기획평가원의 </a:t>
            </a:r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SW</a:t>
            </a:r>
            <a:r>
              <a:rPr lang="ko-KR" altLang="en-US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중심대학사업의 연구결과로 수행되었음</a:t>
            </a:r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"(2021-0-01082)</a:t>
            </a:r>
            <a:endParaRPr lang="ko-KR" alt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89A67B-2EE9-8DC9-A3AF-67031009FA4C}"/>
              </a:ext>
            </a:extLst>
          </p:cNvPr>
          <p:cNvSpPr txBox="1"/>
          <p:nvPr/>
        </p:nvSpPr>
        <p:spPr>
          <a:xfrm>
            <a:off x="231662" y="5674309"/>
            <a:ext cx="5759863" cy="62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*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경북대학교 컴퓨터학부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, {wjdqh6544, lsmin3388, knu12370, ef3232, lee980605}@knu.ac.kr</a:t>
            </a:r>
          </a:p>
          <a:p>
            <a:pPr algn="just">
              <a:lnSpc>
                <a:spcPct val="11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**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㈜ 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엠엠피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, dmmp@naver.com</a:t>
            </a:r>
          </a:p>
          <a:p>
            <a:pPr algn="just">
              <a:lnSpc>
                <a:spcPct val="11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***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경북대학교 소프트웨어교육원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(Corresponding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Author), snowflower@knu.ac.kr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3C0E8320-8509-6A38-37A2-F4B44C02D0D3}"/>
              </a:ext>
            </a:extLst>
          </p:cNvPr>
          <p:cNvSpPr txBox="1">
            <a:spLocks/>
          </p:cNvSpPr>
          <p:nvPr/>
        </p:nvSpPr>
        <p:spPr>
          <a:xfrm>
            <a:off x="846406" y="1092782"/>
            <a:ext cx="8213188" cy="413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&lt;2026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한국정보기술학회 하계종합학술대회 및 대학생논문경진대회 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2-R-08&gt;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4D09D80-7572-FCAF-DD83-23B840247B7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068" y="6233977"/>
            <a:ext cx="2282810" cy="310678"/>
          </a:xfrm>
          <a:prstGeom prst="rect">
            <a:avLst/>
          </a:prstGeom>
        </p:spPr>
      </p:pic>
      <p:pic>
        <p:nvPicPr>
          <p:cNvPr id="8" name="그림 7" descr="엠엠피 2026년 기업정보 - 직원수, 근무환경, 복리후생 등 | 잡코리아">
            <a:extLst>
              <a:ext uri="{FF2B5EF4-FFF2-40B4-BE49-F238E27FC236}">
                <a16:creationId xmlns:a16="http://schemas.microsoft.com/office/drawing/2014/main" id="{9A64C9C5-A8E7-B36B-69C2-A70C87C90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625" y="5674309"/>
            <a:ext cx="1788963" cy="47591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402FCF8-9A6E-6FDC-4628-F5E1D413B7E3}"/>
              </a:ext>
            </a:extLst>
          </p:cNvPr>
          <p:cNvSpPr/>
          <p:nvPr/>
        </p:nvSpPr>
        <p:spPr>
          <a:xfrm>
            <a:off x="111012" y="104775"/>
            <a:ext cx="9683976" cy="6648450"/>
          </a:xfrm>
          <a:prstGeom prst="rect">
            <a:avLst/>
          </a:prstGeom>
          <a:noFill/>
          <a:ln w="57150" cmpd="tri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309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2468F-51BF-20D1-8C18-10AEA161C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3FDF47-350F-7C2F-1B0F-096F2E8BB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182" y="1225550"/>
            <a:ext cx="9487390" cy="18978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드론 물류 및 </a:t>
            </a:r>
            <a:r>
              <a:rPr lang="en-US" altLang="ko-KR" sz="2000" dirty="0"/>
              <a:t>UAM </a:t>
            </a:r>
            <a:r>
              <a:rPr lang="ko-KR" altLang="en-US" sz="2000" dirty="0"/>
              <a:t>실증 확대 → 버티포트 </a:t>
            </a:r>
            <a:r>
              <a:rPr lang="ko-KR" altLang="en-US" sz="2000" b="1" dirty="0">
                <a:solidFill>
                  <a:srgbClr val="FF0000"/>
                </a:solidFill>
              </a:rPr>
              <a:t>안전 관리</a:t>
            </a:r>
            <a:r>
              <a:rPr lang="ko-KR" altLang="en-US" sz="2000" b="1" dirty="0"/>
              <a:t> </a:t>
            </a:r>
            <a:r>
              <a:rPr lang="ko-KR" altLang="en-US" sz="2000" dirty="0"/>
              <a:t>및 </a:t>
            </a:r>
            <a:r>
              <a:rPr lang="ko-KR" altLang="en-US" sz="2000" b="1" dirty="0">
                <a:solidFill>
                  <a:srgbClr val="FF0000"/>
                </a:solidFill>
              </a:rPr>
              <a:t>보안 통제 </a:t>
            </a:r>
            <a:r>
              <a:rPr lang="ko-KR" altLang="en-US" sz="2000" dirty="0"/>
              <a:t>요구 증가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수동 모니터링 중심 운영 방식 한계 → </a:t>
            </a:r>
            <a:r>
              <a:rPr lang="ko-KR" altLang="en-US" sz="2000" b="1" dirty="0">
                <a:solidFill>
                  <a:srgbClr val="FF0000"/>
                </a:solidFill>
              </a:rPr>
              <a:t>실시간</a:t>
            </a:r>
            <a:r>
              <a:rPr lang="ko-KR" altLang="en-US" sz="2000" dirty="0"/>
              <a:t> 위험 대응 체계 필요성 증가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항공 안전 수준에 부합하는 </a:t>
            </a:r>
            <a:r>
              <a:rPr lang="ko-KR" altLang="en-US" sz="2000" b="1" dirty="0">
                <a:solidFill>
                  <a:srgbClr val="FF0000"/>
                </a:solidFill>
              </a:rPr>
              <a:t>접근 통제 </a:t>
            </a:r>
            <a:r>
              <a:rPr lang="ko-KR" altLang="en-US" sz="2000" dirty="0"/>
              <a:t>및 </a:t>
            </a:r>
            <a:r>
              <a:rPr lang="ko-KR" altLang="en-US" sz="2000" b="1" dirty="0">
                <a:solidFill>
                  <a:srgbClr val="FF0000"/>
                </a:solidFill>
              </a:rPr>
              <a:t>상황 감지 인프라 </a:t>
            </a:r>
            <a:r>
              <a:rPr lang="ko-KR" altLang="en-US" sz="2000" dirty="0"/>
              <a:t>확보 필요성 증가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4DA9954-FD99-75BB-64A4-C49B08B4B809}"/>
              </a:ext>
            </a:extLst>
          </p:cNvPr>
          <p:cNvSpPr txBox="1">
            <a:spLocks/>
          </p:cNvSpPr>
          <p:nvPr/>
        </p:nvSpPr>
        <p:spPr>
          <a:xfrm>
            <a:off x="191182" y="2904406"/>
            <a:ext cx="60830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Calibri" panose="020F0502020204030204" pitchFamily="34" charset="0"/>
                <a:ea typeface="나눔바른고딕" panose="020B0603020101020101" pitchFamily="50" charset="-127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Contributions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7E99663-2C00-D155-CB88-205ACBDE9FA6}"/>
              </a:ext>
            </a:extLst>
          </p:cNvPr>
          <p:cNvSpPr txBox="1">
            <a:spLocks/>
          </p:cNvSpPr>
          <p:nvPr/>
        </p:nvSpPr>
        <p:spPr>
          <a:xfrm>
            <a:off x="191182" y="4131533"/>
            <a:ext cx="9487390" cy="2589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800" dirty="0" err="1"/>
              <a:t>버티포트</a:t>
            </a:r>
            <a:r>
              <a:rPr lang="ko-KR" altLang="en-US" sz="1800" dirty="0"/>
              <a:t> 환경에 적합한 웹 기반 </a:t>
            </a:r>
            <a:r>
              <a:rPr lang="en-US" altLang="ko-KR" sz="1800" dirty="0"/>
              <a:t>CCTV </a:t>
            </a:r>
            <a:r>
              <a:rPr lang="ko-KR" altLang="en-US" sz="1800" dirty="0"/>
              <a:t>통합 관제 시스템 설계 및 구현 방법 제안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en-US" altLang="ko-KR" sz="1800" dirty="0"/>
              <a:t>RTSP </a:t>
            </a:r>
            <a:r>
              <a:rPr lang="ko-KR" altLang="en-US" sz="1800" dirty="0"/>
              <a:t>및 </a:t>
            </a:r>
            <a:r>
              <a:rPr lang="en-US" altLang="ko-KR" sz="1800" dirty="0"/>
              <a:t>HLS </a:t>
            </a:r>
            <a:r>
              <a:rPr lang="ko-KR" altLang="en-US" sz="1800" dirty="0"/>
              <a:t>프로토콜 활용 → 다중 </a:t>
            </a:r>
            <a:r>
              <a:rPr lang="en-US" altLang="ko-KR" sz="1800" dirty="0"/>
              <a:t>CCTV </a:t>
            </a:r>
            <a:r>
              <a:rPr lang="ko-KR" altLang="en-US" sz="1800" dirty="0"/>
              <a:t>영상의 저장 및 송출 지원하는 스트리밍 방식 구현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en-US" altLang="ko-KR" sz="1800" dirty="0"/>
              <a:t>PTZ </a:t>
            </a:r>
            <a:r>
              <a:rPr lang="ko-KR" altLang="en-US" sz="1800" dirty="0"/>
              <a:t>카메라와 </a:t>
            </a:r>
            <a:r>
              <a:rPr lang="en-US" altLang="ko-KR" sz="1800" dirty="0"/>
              <a:t>ONVIF </a:t>
            </a:r>
            <a:r>
              <a:rPr lang="ko-KR" altLang="en-US" sz="1800" dirty="0"/>
              <a:t>프로토콜 활용 → 제한된 </a:t>
            </a:r>
            <a:r>
              <a:rPr lang="en-US" altLang="ko-KR" sz="1800" dirty="0"/>
              <a:t>CCTV</a:t>
            </a:r>
            <a:r>
              <a:rPr lang="ko-KR" altLang="en-US" sz="1800" dirty="0"/>
              <a:t>로 </a:t>
            </a:r>
            <a:r>
              <a:rPr lang="ko-KR" altLang="en-US" sz="1800" dirty="0" err="1"/>
              <a:t>버티포트</a:t>
            </a:r>
            <a:r>
              <a:rPr lang="ko-KR" altLang="en-US" sz="1800" dirty="0"/>
              <a:t> 전체를 효율적으로 관제</a:t>
            </a:r>
            <a:endParaRPr lang="en-US" altLang="ko-KR" sz="1800" dirty="0"/>
          </a:p>
          <a:p>
            <a:pPr marL="0" indent="450850">
              <a:lnSpc>
                <a:spcPct val="150000"/>
              </a:lnSpc>
              <a:buNone/>
            </a:pPr>
            <a:r>
              <a:rPr lang="ko-KR" altLang="en-US" sz="2000" b="1" dirty="0"/>
              <a:t>⇒ </a:t>
            </a:r>
            <a:r>
              <a:rPr lang="ko-KR" altLang="en-US" sz="2000" b="1" dirty="0" err="1"/>
              <a:t>버티포트</a:t>
            </a:r>
            <a:r>
              <a:rPr lang="ko-KR" altLang="en-US" sz="2000" b="1" dirty="0"/>
              <a:t> 관제 기준 및 운영 체계 수립을 위한 기술적 기반 제공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86A63DC-B080-688F-C30B-573C20915B71}"/>
              </a:ext>
            </a:extLst>
          </p:cNvPr>
          <p:cNvCxnSpPr>
            <a:cxnSpLocks/>
          </p:cNvCxnSpPr>
          <p:nvPr/>
        </p:nvCxnSpPr>
        <p:spPr>
          <a:xfrm>
            <a:off x="-47625" y="4010994"/>
            <a:ext cx="100012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6">
            <a:extLst>
              <a:ext uri="{FF2B5EF4-FFF2-40B4-BE49-F238E27FC236}">
                <a16:creationId xmlns:a16="http://schemas.microsoft.com/office/drawing/2014/main" id="{94E5C381-C35B-2C16-24BC-7323F2A56F0B}"/>
              </a:ext>
            </a:extLst>
          </p:cNvPr>
          <p:cNvCxnSpPr>
            <a:cxnSpLocks/>
          </p:cNvCxnSpPr>
          <p:nvPr/>
        </p:nvCxnSpPr>
        <p:spPr>
          <a:xfrm>
            <a:off x="-47625" y="1060790"/>
            <a:ext cx="100012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A15CCD7-D408-67A6-9A54-04BB533D43C3}"/>
              </a:ext>
            </a:extLst>
          </p:cNvPr>
          <p:cNvSpPr txBox="1"/>
          <p:nvPr/>
        </p:nvSpPr>
        <p:spPr>
          <a:xfrm>
            <a:off x="7243208" y="361316"/>
            <a:ext cx="2666196" cy="80791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1] 관계부처 합동, “한국형 도심항공교통(K-UAM) 로드맵,” 기술 보고서, 국토교통부, May 2020.</a:t>
            </a:r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88900" indent="-88900" algn="just">
              <a:lnSpc>
                <a:spcPct val="130000"/>
              </a:lnSpc>
            </a:pPr>
            <a:r>
              <a:rPr lang="ko-KR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[2] </a:t>
            </a:r>
            <a:r>
              <a:rPr lang="ko-KR" altLang="ko-KR" sz="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구세주, “도심항공교통(</a:t>
            </a:r>
            <a:r>
              <a:rPr lang="en-US" altLang="ko-KR" sz="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</a:t>
            </a:r>
            <a:r>
              <a:rPr lang="ko-KR" altLang="ko-KR" sz="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rban Air Mobility, UAM) 상용화를 위한 정책 과제,” 연구 보고서, 국회입법조사처, Mar 2024. </a:t>
            </a:r>
            <a:endParaRPr lang="en-US" altLang="ko-KR" sz="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3] ICAO, "Heliport Manual (Doc 9261)," International Civil Aviation Organization, 2021.</a:t>
            </a:r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88900" indent="-88900" algn="just">
              <a:lnSpc>
                <a:spcPct val="130000"/>
              </a:lnSpc>
            </a:pPr>
            <a:r>
              <a:rPr lang="ko-KR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[4] W3C, "WebRTC 1.0: Real-Time Communication Between Browsers," W3C Recommendation, Mar 2025.</a:t>
            </a:r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ko-KR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[5] R. Pantos and W. May, "HTTP Live Streaming," IETF RFC 8216, Aug 2017.</a:t>
            </a:r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88900" indent="-88900" algn="just">
              <a:lnSpc>
                <a:spcPct val="130000"/>
              </a:lnSpc>
              <a:tabLst>
                <a:tab pos="88900" algn="l"/>
              </a:tabLst>
            </a:pPr>
            <a:r>
              <a:rPr lang="ko-KR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[6] Apple Developer Center, “Enabling Low-Latency HTTP Live Streaming(HLS)” Apple, May 2024.</a:t>
            </a:r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ko-KR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[7] ONVIF, "ONVIF Profile S Specification," Open Network Video Interface Forum, 2022.</a:t>
            </a:r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88900" indent="-88900" algn="just">
              <a:lnSpc>
                <a:spcPct val="130000"/>
              </a:lnSpc>
            </a:pPr>
            <a:r>
              <a:rPr lang="ko-KR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[8] J. Lee and S. Park, "Design and Implementation of IoT-Based Smart CCTV Surveillance System," Journal of the Korea Institute of Information and Communication Engineering, vol. 25, no. 4, pp. 563-569, 2021.</a:t>
            </a:r>
            <a:endParaRPr lang="ko-KR" altLang="en-US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8CAD93-303E-AE68-D680-80CFDC229C97}"/>
              </a:ext>
            </a:extLst>
          </p:cNvPr>
          <p:cNvSpPr txBox="1"/>
          <p:nvPr/>
        </p:nvSpPr>
        <p:spPr>
          <a:xfrm>
            <a:off x="7243208" y="127981"/>
            <a:ext cx="233362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References</a:t>
            </a:r>
            <a:endParaRPr lang="ko-KR" altLang="en-US" sz="1200" dirty="0"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824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내용 개체 틀 2">
            <a:extLst>
              <a:ext uri="{FF2B5EF4-FFF2-40B4-BE49-F238E27FC236}">
                <a16:creationId xmlns:a16="http://schemas.microsoft.com/office/drawing/2014/main" id="{51E2E19D-090F-2F97-2C7A-38A2A96F0756}"/>
              </a:ext>
            </a:extLst>
          </p:cNvPr>
          <p:cNvSpPr txBox="1">
            <a:spLocks/>
          </p:cNvSpPr>
          <p:nvPr/>
        </p:nvSpPr>
        <p:spPr>
          <a:xfrm>
            <a:off x="290021" y="1225550"/>
            <a:ext cx="9254953" cy="39595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lvl="1" indent="-176213">
              <a:lnSpc>
                <a:spcPct val="180000"/>
              </a:lnSpc>
              <a:tabLst>
                <a:tab pos="176213" algn="l"/>
              </a:tabLst>
            </a:pPr>
            <a:r>
              <a:rPr lang="ko-KR" altLang="en-US" sz="1700" dirty="0"/>
              <a:t>버티포트 상시 </a:t>
            </a:r>
            <a:r>
              <a:rPr lang="ko-KR" altLang="en-US" sz="1700" dirty="0">
                <a:solidFill>
                  <a:srgbClr val="FF0000"/>
                </a:solidFill>
              </a:rPr>
              <a:t>모니터링</a:t>
            </a:r>
            <a:r>
              <a:rPr lang="en-US" altLang="ko-KR" sz="1700" dirty="0"/>
              <a:t>: </a:t>
            </a:r>
            <a:r>
              <a:rPr lang="ko-KR" altLang="en-US" sz="1400" dirty="0"/>
              <a:t>고정형</a:t>
            </a:r>
            <a:r>
              <a:rPr lang="en-US" altLang="ko-KR" sz="1400" dirty="0"/>
              <a:t>/PTZ </a:t>
            </a:r>
            <a:r>
              <a:rPr lang="ko-KR" altLang="en-US" sz="1400" dirty="0"/>
              <a:t>카메라 혼용</a:t>
            </a:r>
            <a:endParaRPr lang="en-US" altLang="ko-KR" sz="1400" dirty="0"/>
          </a:p>
          <a:p>
            <a:pPr marL="176213" lvl="1" indent="-176213">
              <a:lnSpc>
                <a:spcPct val="180000"/>
              </a:lnSpc>
              <a:tabLst>
                <a:tab pos="176213" algn="l"/>
              </a:tabLst>
            </a:pPr>
            <a:r>
              <a:rPr lang="ko-KR" altLang="en-US" sz="1700" dirty="0"/>
              <a:t>녹화 영상 </a:t>
            </a:r>
            <a:r>
              <a:rPr lang="ko-KR" altLang="en-US" sz="1700" dirty="0">
                <a:solidFill>
                  <a:srgbClr val="FF0000"/>
                </a:solidFill>
              </a:rPr>
              <a:t>저장 및 보존</a:t>
            </a:r>
            <a:r>
              <a:rPr lang="en-US" altLang="ko-KR" sz="1700" dirty="0"/>
              <a:t>: </a:t>
            </a:r>
            <a:r>
              <a:rPr lang="ko-KR" altLang="en-US" sz="1400" dirty="0"/>
              <a:t>최소 </a:t>
            </a:r>
            <a:r>
              <a:rPr lang="en-US" altLang="ko-KR" sz="1400" dirty="0"/>
              <a:t>24</a:t>
            </a:r>
            <a:r>
              <a:rPr lang="ko-KR" altLang="en-US" sz="1400" dirty="0"/>
              <a:t>시간</a:t>
            </a:r>
            <a:endParaRPr lang="en-US" altLang="ko-KR" sz="1400" dirty="0"/>
          </a:p>
          <a:p>
            <a:pPr marL="176213" lvl="1" indent="-176213">
              <a:lnSpc>
                <a:spcPct val="180000"/>
              </a:lnSpc>
              <a:tabLst>
                <a:tab pos="176213" algn="l"/>
              </a:tabLst>
            </a:pPr>
            <a:r>
              <a:rPr lang="ko-KR" altLang="en-US" sz="1700" dirty="0"/>
              <a:t>다중 카메라 영상 조회</a:t>
            </a:r>
            <a:r>
              <a:rPr lang="en-US" altLang="ko-KR" sz="1700" dirty="0"/>
              <a:t>: </a:t>
            </a:r>
            <a:r>
              <a:rPr lang="ko-KR" altLang="en-US" sz="1400" dirty="0"/>
              <a:t>단일 화면</a:t>
            </a:r>
            <a:r>
              <a:rPr lang="en-US" altLang="ko-KR" sz="1400" dirty="0"/>
              <a:t> </a:t>
            </a:r>
            <a:r>
              <a:rPr lang="ko-KR" altLang="en-US" sz="1400" dirty="0"/>
              <a:t>내 다중 영상 동시 출력</a:t>
            </a:r>
            <a:endParaRPr lang="en-US" altLang="ko-KR" sz="1400" dirty="0"/>
          </a:p>
          <a:p>
            <a:pPr marL="176213" lvl="1" indent="-176213">
              <a:lnSpc>
                <a:spcPct val="180000"/>
              </a:lnSpc>
              <a:tabLst>
                <a:tab pos="176213" algn="l"/>
              </a:tabLst>
            </a:pPr>
            <a:r>
              <a:rPr lang="ko-KR" altLang="en-US" sz="1700" dirty="0"/>
              <a:t>영상 확대 기능</a:t>
            </a:r>
            <a:r>
              <a:rPr lang="en-US" altLang="ko-KR" sz="1700" dirty="0"/>
              <a:t>: </a:t>
            </a:r>
            <a:r>
              <a:rPr lang="ko-KR" altLang="en-US" sz="1400" dirty="0"/>
              <a:t>선택한 카메라 영상 확대 출력</a:t>
            </a:r>
            <a:endParaRPr lang="en-US" altLang="ko-KR" sz="1400" dirty="0"/>
          </a:p>
          <a:p>
            <a:pPr marL="176213" lvl="1" indent="-176213">
              <a:lnSpc>
                <a:spcPct val="180000"/>
              </a:lnSpc>
              <a:tabLst>
                <a:tab pos="176213" algn="l"/>
              </a:tabLst>
            </a:pPr>
            <a:r>
              <a:rPr lang="en-US" altLang="ko-KR" sz="1700" dirty="0">
                <a:solidFill>
                  <a:srgbClr val="FF0000"/>
                </a:solidFill>
              </a:rPr>
              <a:t>PTZ </a:t>
            </a:r>
            <a:r>
              <a:rPr lang="ko-KR" altLang="en-US" sz="1700" dirty="0">
                <a:solidFill>
                  <a:srgbClr val="FF0000"/>
                </a:solidFill>
              </a:rPr>
              <a:t>카메라 제어</a:t>
            </a:r>
            <a:r>
              <a:rPr lang="en-US" altLang="ko-KR" sz="1700" dirty="0"/>
              <a:t>: </a:t>
            </a:r>
            <a:r>
              <a:rPr lang="en-US" altLang="ko-KR" sz="1400" dirty="0"/>
              <a:t>Pan/Tilt/Zoom </a:t>
            </a:r>
            <a:r>
              <a:rPr lang="ko-KR" altLang="en-US" sz="1400" dirty="0"/>
              <a:t>제어 인터페이스 제공</a:t>
            </a:r>
            <a:endParaRPr lang="en-US" altLang="ko-KR" sz="1400" dirty="0"/>
          </a:p>
          <a:p>
            <a:pPr marL="176213" lvl="1" indent="-176213">
              <a:lnSpc>
                <a:spcPct val="180000"/>
              </a:lnSpc>
              <a:tabLst>
                <a:tab pos="176213" algn="l"/>
              </a:tabLst>
            </a:pPr>
            <a:r>
              <a:rPr lang="ko-KR" altLang="en-US" sz="1700" dirty="0"/>
              <a:t>사용자 활동 이력 관리</a:t>
            </a:r>
            <a:r>
              <a:rPr lang="en-US" altLang="ko-KR" sz="1700" dirty="0"/>
              <a:t>: </a:t>
            </a:r>
            <a:r>
              <a:rPr lang="ko-KR" altLang="en-US" sz="1400" dirty="0"/>
              <a:t>접근 제어 및 이벤트 로그 관리</a:t>
            </a:r>
            <a:endParaRPr lang="en-US" altLang="ko-KR" sz="1400" dirty="0"/>
          </a:p>
          <a:p>
            <a:pPr marL="176213" lvl="1" indent="-176213">
              <a:lnSpc>
                <a:spcPct val="180000"/>
              </a:lnSpc>
              <a:tabLst>
                <a:tab pos="176213" algn="l"/>
              </a:tabLst>
            </a:pPr>
            <a:r>
              <a:rPr lang="ko-KR" altLang="en-US" sz="1700" dirty="0">
                <a:solidFill>
                  <a:srgbClr val="FF0000"/>
                </a:solidFill>
              </a:rPr>
              <a:t>웹</a:t>
            </a:r>
            <a:r>
              <a:rPr lang="ko-KR" altLang="en-US" sz="1700" dirty="0"/>
              <a:t> 기반 접근성</a:t>
            </a:r>
            <a:r>
              <a:rPr lang="en-US" altLang="ko-KR" sz="1700" dirty="0"/>
              <a:t>: </a:t>
            </a:r>
            <a:r>
              <a:rPr lang="ko-KR" altLang="en-US" sz="1400" dirty="0"/>
              <a:t>시</a:t>
            </a:r>
            <a:r>
              <a:rPr lang="en-US" altLang="ko-KR" sz="1400" dirty="0"/>
              <a:t>·</a:t>
            </a:r>
            <a:r>
              <a:rPr lang="ko-KR" altLang="en-US" sz="1400" dirty="0"/>
              <a:t>공간 제약 없는 원격 접속 지원</a:t>
            </a:r>
            <a:endParaRPr lang="en-US" altLang="ko-KR" sz="1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7545217-C2FA-7FE5-CA5C-EB8D6C521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0" y="-100013"/>
            <a:ext cx="8543925" cy="1325563"/>
          </a:xfrm>
        </p:spPr>
        <p:txBody>
          <a:bodyPr/>
          <a:lstStyle/>
          <a:p>
            <a:r>
              <a:rPr lang="en-US" altLang="ko-KR" dirty="0"/>
              <a:t>User Requirements</a:t>
            </a:r>
            <a:endParaRPr lang="ko-KR" altLang="en-US" dirty="0"/>
          </a:p>
        </p:txBody>
      </p:sp>
      <p:sp>
        <p:nvSpPr>
          <p:cNvPr id="34" name="제목 1">
            <a:extLst>
              <a:ext uri="{FF2B5EF4-FFF2-40B4-BE49-F238E27FC236}">
                <a16:creationId xmlns:a16="http://schemas.microsoft.com/office/drawing/2014/main" id="{DB7BCB1B-5AC7-A8AD-AA01-14A44F249F53}"/>
              </a:ext>
            </a:extLst>
          </p:cNvPr>
          <p:cNvSpPr txBox="1">
            <a:spLocks/>
          </p:cNvSpPr>
          <p:nvPr/>
        </p:nvSpPr>
        <p:spPr>
          <a:xfrm>
            <a:off x="5225386" y="-100013"/>
            <a:ext cx="45725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Calibri" panose="020F0502020204030204" pitchFamily="34" charset="0"/>
                <a:ea typeface="나눔바른고딕" panose="020B0603020101020101" pitchFamily="50" charset="-127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System Architecture</a:t>
            </a:r>
            <a:endParaRPr lang="ko-KR" altLang="en-US" dirty="0"/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74133A9-F853-E1C4-A3F4-ECD343AAE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047368"/>
              </p:ext>
            </p:extLst>
          </p:nvPr>
        </p:nvGraphicFramePr>
        <p:xfrm>
          <a:off x="5505450" y="1366789"/>
          <a:ext cx="4192787" cy="49029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9832">
                  <a:extLst>
                    <a:ext uri="{9D8B030D-6E8A-4147-A177-3AD203B41FA5}">
                      <a16:colId xmlns:a16="http://schemas.microsoft.com/office/drawing/2014/main" val="1644001415"/>
                    </a:ext>
                  </a:extLst>
                </a:gridCol>
                <a:gridCol w="1925359">
                  <a:extLst>
                    <a:ext uri="{9D8B030D-6E8A-4147-A177-3AD203B41FA5}">
                      <a16:colId xmlns:a16="http://schemas.microsoft.com/office/drawing/2014/main" val="4176286182"/>
                    </a:ext>
                  </a:extLst>
                </a:gridCol>
                <a:gridCol w="1397596">
                  <a:extLst>
                    <a:ext uri="{9D8B030D-6E8A-4147-A177-3AD203B41FA5}">
                      <a16:colId xmlns:a16="http://schemas.microsoft.com/office/drawing/2014/main" val="4028801587"/>
                    </a:ext>
                  </a:extLst>
                </a:gridCol>
              </a:tblGrid>
              <a:tr h="3877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단일 서버 구조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분리 서버 구조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608716"/>
                  </a:ext>
                </a:extLst>
              </a:tr>
              <a:tr h="8085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영상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스트림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수신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애플리케이션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서버에서 처리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별도의 미디어</a:t>
                      </a:r>
                      <a:endParaRPr lang="en-US" altLang="ko-KR" sz="1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서버에서 </a:t>
                      </a:r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처리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6231435"/>
                  </a:ext>
                </a:extLst>
              </a:tr>
              <a:tr h="9878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영상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스트림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변환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애플리케이션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내부 프로세스 의존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미디어 서버 내부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파이프라인 처리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070258"/>
                  </a:ext>
                </a:extLst>
              </a:tr>
              <a:tr h="5727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장애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격리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장애 전파 발생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서비스 간 장애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독립성 확보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761230"/>
                  </a:ext>
                </a:extLst>
              </a:tr>
              <a:tr h="8085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재배포 시 서비스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영향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서비스 전체 중단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지속적인 서비스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운영 가능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985319"/>
                  </a:ext>
                </a:extLst>
              </a:tr>
              <a:tr h="7648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자원 경쟁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자원 공유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→ 성능 저하 우려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역할별 자원 분리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→ 효율 향상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507069"/>
                  </a:ext>
                </a:extLst>
              </a:tr>
              <a:tr h="5727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구성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복잡도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단순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상대적 복잡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351942"/>
                  </a:ext>
                </a:extLst>
              </a:tr>
            </a:tbl>
          </a:graphicData>
        </a:graphic>
      </p:graphicFrame>
      <p:cxnSp>
        <p:nvCxnSpPr>
          <p:cNvPr id="37" name="직선 연결선 6">
            <a:extLst>
              <a:ext uri="{FF2B5EF4-FFF2-40B4-BE49-F238E27FC236}">
                <a16:creationId xmlns:a16="http://schemas.microsoft.com/office/drawing/2014/main" id="{86FBA605-1E08-FFE6-6ECC-745893EC14BB}"/>
              </a:ext>
            </a:extLst>
          </p:cNvPr>
          <p:cNvCxnSpPr>
            <a:cxnSpLocks/>
          </p:cNvCxnSpPr>
          <p:nvPr/>
        </p:nvCxnSpPr>
        <p:spPr>
          <a:xfrm>
            <a:off x="-85725" y="1060790"/>
            <a:ext cx="100393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rgbClr val="686868"/>
                </a:gs>
                <a:gs pos="100000">
                  <a:schemeClr val="bg2">
                    <a:lumMod val="1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09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3BD2-C269-AE64-5A85-48A1C9ECF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237C8B8-F3B2-6E68-6A87-C97A281830F6}"/>
              </a:ext>
            </a:extLst>
          </p:cNvPr>
          <p:cNvCxnSpPr>
            <a:cxnSpLocks/>
          </p:cNvCxnSpPr>
          <p:nvPr/>
        </p:nvCxnSpPr>
        <p:spPr>
          <a:xfrm>
            <a:off x="-57150" y="1060790"/>
            <a:ext cx="100012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rgbClr val="585858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47FDFBA-9B80-10AC-D020-C5112D307E5C}"/>
              </a:ext>
            </a:extLst>
          </p:cNvPr>
          <p:cNvSpPr/>
          <p:nvPr/>
        </p:nvSpPr>
        <p:spPr>
          <a:xfrm>
            <a:off x="5924550" y="454766"/>
            <a:ext cx="3981449" cy="10518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E984746A-75D3-610B-F399-3FFE8F28D7A2}"/>
              </a:ext>
            </a:extLst>
          </p:cNvPr>
          <p:cNvSpPr/>
          <p:nvPr/>
        </p:nvSpPr>
        <p:spPr>
          <a:xfrm>
            <a:off x="6294283" y="5683867"/>
            <a:ext cx="2703820" cy="93311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385088AE-3437-32E1-7297-75CCAC771C40}"/>
              </a:ext>
            </a:extLst>
          </p:cNvPr>
          <p:cNvSpPr/>
          <p:nvPr/>
        </p:nvSpPr>
        <p:spPr>
          <a:xfrm>
            <a:off x="6140425" y="2617907"/>
            <a:ext cx="2860215" cy="989027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C03BAD8-2A07-07A4-578B-9EFA1AA43285}"/>
              </a:ext>
            </a:extLst>
          </p:cNvPr>
          <p:cNvSpPr/>
          <p:nvPr/>
        </p:nvSpPr>
        <p:spPr>
          <a:xfrm>
            <a:off x="6138214" y="1436839"/>
            <a:ext cx="2834336" cy="873754"/>
          </a:xfrm>
          <a:prstGeom prst="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287DB9D-EBE3-6F61-557C-EEC1D4E6438E}"/>
              </a:ext>
            </a:extLst>
          </p:cNvPr>
          <p:cNvSpPr/>
          <p:nvPr/>
        </p:nvSpPr>
        <p:spPr>
          <a:xfrm>
            <a:off x="6294282" y="3875531"/>
            <a:ext cx="2703820" cy="1074083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내용 개체 틀 2">
            <a:extLst>
              <a:ext uri="{FF2B5EF4-FFF2-40B4-BE49-F238E27FC236}">
                <a16:creationId xmlns:a16="http://schemas.microsoft.com/office/drawing/2014/main" id="{B939649F-DEE7-3AC3-2302-C952D1E32626}"/>
              </a:ext>
            </a:extLst>
          </p:cNvPr>
          <p:cNvSpPr txBox="1">
            <a:spLocks/>
          </p:cNvSpPr>
          <p:nvPr/>
        </p:nvSpPr>
        <p:spPr>
          <a:xfrm>
            <a:off x="459865" y="1780329"/>
            <a:ext cx="6092058" cy="4669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2000" dirty="0">
                <a:solidFill>
                  <a:srgbClr val="0070C0"/>
                </a:solidFill>
              </a:rPr>
              <a:t>Client Layer</a:t>
            </a:r>
          </a:p>
          <a:p>
            <a:pPr marL="446088" lvl="1" indent="-176213">
              <a:lnSpc>
                <a:spcPct val="130000"/>
              </a:lnSpc>
            </a:pPr>
            <a:r>
              <a:rPr lang="ko-KR" altLang="en-US" sz="1400" dirty="0"/>
              <a:t>사용자에게 관제 서비스 일체의 기능 제공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00B050"/>
                </a:solidFill>
              </a:rPr>
              <a:t>Application Layer</a:t>
            </a:r>
          </a:p>
          <a:p>
            <a:pPr marL="446088" lvl="1" indent="-176213">
              <a:lnSpc>
                <a:spcPct val="130000"/>
              </a:lnSpc>
            </a:pPr>
            <a:r>
              <a:rPr lang="ko-KR" altLang="en-US" sz="1400" dirty="0"/>
              <a:t>관제 서비스 비즈니스 로직 수행</a:t>
            </a:r>
            <a:endParaRPr lang="en-US" altLang="ko-KR" sz="1400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C04F15"/>
                </a:solidFill>
              </a:rPr>
              <a:t>Media Processing Layer</a:t>
            </a:r>
          </a:p>
          <a:p>
            <a:pPr marL="446088" lvl="1" indent="-176213">
              <a:lnSpc>
                <a:spcPct val="130000"/>
              </a:lnSpc>
            </a:pPr>
            <a:r>
              <a:rPr lang="ko-KR" altLang="en-US" sz="1400" dirty="0"/>
              <a:t>카메라 </a:t>
            </a:r>
            <a:r>
              <a:rPr lang="en-US" altLang="ko-KR" sz="1400" dirty="0"/>
              <a:t>RTSP </a:t>
            </a:r>
            <a:r>
              <a:rPr lang="ko-KR" altLang="en-US" sz="1400" dirty="0"/>
              <a:t>스트림을 </a:t>
            </a:r>
            <a:r>
              <a:rPr lang="en-US" altLang="ko-KR" sz="1400" dirty="0"/>
              <a:t>HLS</a:t>
            </a:r>
            <a:r>
              <a:rPr lang="ko-KR" altLang="en-US" sz="1400" dirty="0"/>
              <a:t>로 변환 및 송신</a:t>
            </a:r>
            <a:endParaRPr lang="en-US" altLang="ko-KR" sz="1400" dirty="0"/>
          </a:p>
          <a:p>
            <a:pPr marL="446088" lvl="1" indent="-176213">
              <a:lnSpc>
                <a:spcPct val="130000"/>
              </a:lnSpc>
            </a:pPr>
            <a:r>
              <a:rPr lang="ko-KR" altLang="en-US" sz="1400" dirty="0"/>
              <a:t>카메라 </a:t>
            </a:r>
            <a:r>
              <a:rPr lang="en-US" altLang="ko-KR" sz="1400" dirty="0"/>
              <a:t>RTSP </a:t>
            </a:r>
            <a:r>
              <a:rPr lang="ko-KR" altLang="en-US" sz="1400" dirty="0"/>
              <a:t>스트림 저장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FF0000"/>
                </a:solidFill>
              </a:rPr>
              <a:t>Camera Layer</a:t>
            </a:r>
          </a:p>
          <a:p>
            <a:pPr marL="446088" lvl="1" indent="-176213">
              <a:lnSpc>
                <a:spcPct val="130000"/>
              </a:lnSpc>
            </a:pPr>
            <a:r>
              <a:rPr lang="ko-KR" altLang="en-US" sz="1400" dirty="0"/>
              <a:t>카메라로부터 영상 정보를 수집 </a:t>
            </a:r>
            <a:r>
              <a:rPr lang="en-US" altLang="ko-KR" sz="1400" dirty="0"/>
              <a:t>&amp; </a:t>
            </a:r>
            <a:r>
              <a:rPr lang="ko-KR" altLang="en-US" sz="1400" dirty="0"/>
              <a:t>송신</a:t>
            </a:r>
            <a:endParaRPr lang="en-US" altLang="ko-KR" sz="1400" dirty="0"/>
          </a:p>
          <a:p>
            <a:pPr marL="446088" lvl="1" indent="-176213">
              <a:lnSpc>
                <a:spcPct val="130000"/>
              </a:lnSpc>
            </a:pPr>
            <a:r>
              <a:rPr lang="ko-KR" altLang="en-US" sz="1400" dirty="0"/>
              <a:t>서버로부터 </a:t>
            </a:r>
            <a:r>
              <a:rPr lang="en-US" altLang="ko-KR" sz="1400" dirty="0"/>
              <a:t>ONVIF </a:t>
            </a:r>
            <a:r>
              <a:rPr lang="ko-KR" altLang="en-US" sz="1400" dirty="0"/>
              <a:t>제어 신호를 수신 </a:t>
            </a:r>
            <a:r>
              <a:rPr lang="en-US" altLang="ko-KR" sz="1400" dirty="0"/>
              <a:t>&amp; </a:t>
            </a:r>
            <a:r>
              <a:rPr lang="ko-KR" altLang="en-US" sz="1400" dirty="0"/>
              <a:t>카메라 제어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2000" dirty="0">
              <a:solidFill>
                <a:srgbClr val="FF0000"/>
              </a:solidFill>
            </a:endParaRP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9F25DE-8AC9-0F53-F2C1-79995F15FDC2}"/>
              </a:ext>
            </a:extLst>
          </p:cNvPr>
          <p:cNvGrpSpPr/>
          <p:nvPr/>
        </p:nvGrpSpPr>
        <p:grpSpPr>
          <a:xfrm>
            <a:off x="7451346" y="355036"/>
            <a:ext cx="363051" cy="605902"/>
            <a:chOff x="3151762" y="794425"/>
            <a:chExt cx="479898" cy="800911"/>
          </a:xfrm>
        </p:grpSpPr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29643300-CE5D-3D4C-89AC-30A3343681D7}"/>
                </a:ext>
              </a:extLst>
            </p:cNvPr>
            <p:cNvSpPr/>
            <p:nvPr/>
          </p:nvSpPr>
          <p:spPr>
            <a:xfrm>
              <a:off x="3232825" y="794425"/>
              <a:ext cx="311286" cy="311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58CED967-6858-F293-7F22-2209427246A7}"/>
                </a:ext>
              </a:extLst>
            </p:cNvPr>
            <p:cNvCxnSpPr>
              <a:cxnSpLocks/>
              <a:stCxn id="77" idx="4"/>
            </p:cNvCxnSpPr>
            <p:nvPr/>
          </p:nvCxnSpPr>
          <p:spPr>
            <a:xfrm>
              <a:off x="3388468" y="1105711"/>
              <a:ext cx="0" cy="3372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05EC7F02-5A97-F40A-044A-64D46C90603D}"/>
                </a:ext>
              </a:extLst>
            </p:cNvPr>
            <p:cNvCxnSpPr>
              <a:cxnSpLocks/>
            </p:cNvCxnSpPr>
            <p:nvPr/>
          </p:nvCxnSpPr>
          <p:spPr>
            <a:xfrm>
              <a:off x="3388468" y="1442936"/>
              <a:ext cx="155643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D4AE4323-8F20-D161-D724-03BA2ED977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32825" y="1442936"/>
              <a:ext cx="155643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37F334D0-2938-B914-507F-8FA2692367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1762" y="1314855"/>
              <a:ext cx="47989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9CB973C-3A36-1FAA-B547-8FC27D4F84EA}"/>
              </a:ext>
            </a:extLst>
          </p:cNvPr>
          <p:cNvSpPr/>
          <p:nvPr/>
        </p:nvSpPr>
        <p:spPr>
          <a:xfrm>
            <a:off x="6918938" y="1573784"/>
            <a:ext cx="1633612" cy="58154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506239C-EAB9-822F-3D54-50AF58D77094}"/>
              </a:ext>
            </a:extLst>
          </p:cNvPr>
          <p:cNvSpPr/>
          <p:nvPr/>
        </p:nvSpPr>
        <p:spPr>
          <a:xfrm>
            <a:off x="7781327" y="2813229"/>
            <a:ext cx="1088738" cy="591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D996741-1963-43EA-869F-7AF681511BFE}"/>
              </a:ext>
            </a:extLst>
          </p:cNvPr>
          <p:cNvSpPr/>
          <p:nvPr/>
        </p:nvSpPr>
        <p:spPr>
          <a:xfrm>
            <a:off x="6504776" y="4076019"/>
            <a:ext cx="1220493" cy="7120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</a:t>
            </a:r>
          </a:p>
          <a:p>
            <a:pPr algn="ctr"/>
            <a:r>
              <a:rPr lang="en-US" altLang="ko-KR" sz="17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</a:t>
            </a:r>
            <a:endParaRPr lang="ko-KR" altLang="en-US" sz="17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71D6EC3-AF74-C4BF-BA71-E7C40ABBABFA}"/>
              </a:ext>
            </a:extLst>
          </p:cNvPr>
          <p:cNvSpPr/>
          <p:nvPr/>
        </p:nvSpPr>
        <p:spPr>
          <a:xfrm>
            <a:off x="6294282" y="2833529"/>
            <a:ext cx="1088737" cy="52258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  <a:endParaRPr lang="ko-KR" altLang="en-US" sz="17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원통형 85">
            <a:extLst>
              <a:ext uri="{FF2B5EF4-FFF2-40B4-BE49-F238E27FC236}">
                <a16:creationId xmlns:a16="http://schemas.microsoft.com/office/drawing/2014/main" id="{C4BA90FA-C060-68AF-1D50-EB558BF10BF2}"/>
              </a:ext>
            </a:extLst>
          </p:cNvPr>
          <p:cNvSpPr/>
          <p:nvPr/>
        </p:nvSpPr>
        <p:spPr>
          <a:xfrm>
            <a:off x="4671532" y="2676086"/>
            <a:ext cx="1075400" cy="837474"/>
          </a:xfrm>
          <a:prstGeom prst="can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dirty="0">
                <a:solidFill>
                  <a:sysClr val="windowText" lastClr="000000"/>
                </a:solidFill>
              </a:rPr>
              <a:t>Storage</a:t>
            </a:r>
            <a:endParaRPr lang="ko-KR" altLang="en-US" sz="1700" dirty="0">
              <a:solidFill>
                <a:sysClr val="windowText" lastClr="000000"/>
              </a:solidFill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E8450543-89C0-2046-0EDC-7460328126F8}"/>
              </a:ext>
            </a:extLst>
          </p:cNvPr>
          <p:cNvCxnSpPr>
            <a:cxnSpLocks/>
            <a:endCxn id="84" idx="0"/>
          </p:cNvCxnSpPr>
          <p:nvPr/>
        </p:nvCxnSpPr>
        <p:spPr>
          <a:xfrm>
            <a:off x="7115023" y="3329946"/>
            <a:ext cx="0" cy="746073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7C8E478-FAB8-91AD-CE11-48CC2FDF2198}"/>
              </a:ext>
            </a:extLst>
          </p:cNvPr>
          <p:cNvSpPr txBox="1"/>
          <p:nvPr/>
        </p:nvSpPr>
        <p:spPr>
          <a:xfrm>
            <a:off x="6360944" y="5115540"/>
            <a:ext cx="1459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Stream</a:t>
            </a:r>
          </a:p>
          <a:p>
            <a:pPr algn="ctr"/>
            <a:r>
              <a:rPr lang="en-US" altLang="ko-K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(RTSP)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970990A-87C8-0572-7717-DC75331B544D}"/>
              </a:ext>
            </a:extLst>
          </p:cNvPr>
          <p:cNvSpPr txBox="1"/>
          <p:nvPr/>
        </p:nvSpPr>
        <p:spPr>
          <a:xfrm>
            <a:off x="4967228" y="3852622"/>
            <a:ext cx="1537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File</a:t>
            </a:r>
          </a:p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(Persistence)</a:t>
            </a:r>
          </a:p>
        </p:txBody>
      </p: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910C299B-80BB-300E-5712-89DA826040C7}"/>
              </a:ext>
            </a:extLst>
          </p:cNvPr>
          <p:cNvCxnSpPr>
            <a:cxnSpLocks/>
            <a:stCxn id="84" idx="1"/>
            <a:endCxn id="86" idx="3"/>
          </p:cNvCxnSpPr>
          <p:nvPr/>
        </p:nvCxnSpPr>
        <p:spPr>
          <a:xfrm rot="10800000">
            <a:off x="5209232" y="3513561"/>
            <a:ext cx="1295544" cy="918479"/>
          </a:xfrm>
          <a:prstGeom prst="bentConnector2">
            <a:avLst/>
          </a:prstGeom>
          <a:ln w="12700">
            <a:solidFill>
              <a:schemeClr val="tx1"/>
            </a:solidFill>
            <a:headEnd w="med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C067EF5D-4E86-995F-F2A5-5280CFE7FC32}"/>
              </a:ext>
            </a:extLst>
          </p:cNvPr>
          <p:cNvSpPr txBox="1"/>
          <p:nvPr/>
        </p:nvSpPr>
        <p:spPr>
          <a:xfrm>
            <a:off x="8509376" y="5049630"/>
            <a:ext cx="1152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PTZ Control</a:t>
            </a:r>
          </a:p>
          <a:p>
            <a:pPr algn="ctr"/>
            <a:r>
              <a:rPr lang="en-US" altLang="ko-K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(ONVIF)</a:t>
            </a:r>
            <a:endParaRPr lang="ko-KR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D6A9907A-1F46-EF03-48A5-020B21018163}"/>
              </a:ext>
            </a:extLst>
          </p:cNvPr>
          <p:cNvCxnSpPr>
            <a:cxnSpLocks/>
            <a:endCxn id="84" idx="2"/>
          </p:cNvCxnSpPr>
          <p:nvPr/>
        </p:nvCxnSpPr>
        <p:spPr>
          <a:xfrm rot="16200000" flipV="1">
            <a:off x="6971266" y="4931816"/>
            <a:ext cx="895808" cy="608294"/>
          </a:xfrm>
          <a:prstGeom prst="bentConnector3">
            <a:avLst>
              <a:gd name="adj1" fmla="val 66481"/>
            </a:avLst>
          </a:prstGeom>
          <a:ln w="12700">
            <a:solidFill>
              <a:schemeClr val="tx1"/>
            </a:solidFill>
            <a:headEnd w="med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4685DC99-4037-9DBB-3F37-7C0CC61F5104}"/>
              </a:ext>
            </a:extLst>
          </p:cNvPr>
          <p:cNvCxnSpPr>
            <a:cxnSpLocks/>
            <a:stCxn id="86" idx="4"/>
            <a:endCxn id="85" idx="1"/>
          </p:cNvCxnSpPr>
          <p:nvPr/>
        </p:nvCxnSpPr>
        <p:spPr>
          <a:xfrm>
            <a:off x="5746932" y="3094823"/>
            <a:ext cx="547350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FF10CDE6-69AC-B491-582A-C6BB52913DF8}"/>
              </a:ext>
            </a:extLst>
          </p:cNvPr>
          <p:cNvCxnSpPr>
            <a:cxnSpLocks/>
            <a:stCxn id="83" idx="1"/>
            <a:endCxn id="85" idx="3"/>
          </p:cNvCxnSpPr>
          <p:nvPr/>
        </p:nvCxnSpPr>
        <p:spPr>
          <a:xfrm flipH="1" flipV="1">
            <a:off x="7383019" y="3094823"/>
            <a:ext cx="398308" cy="1410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D7CF971D-3064-1125-8529-C5478BD2B55A}"/>
              </a:ext>
            </a:extLst>
          </p:cNvPr>
          <p:cNvCxnSpPr>
            <a:cxnSpLocks/>
            <a:stCxn id="82" idx="2"/>
            <a:endCxn id="83" idx="0"/>
          </p:cNvCxnSpPr>
          <p:nvPr/>
        </p:nvCxnSpPr>
        <p:spPr>
          <a:xfrm rot="16200000" flipH="1">
            <a:off x="7701771" y="2189303"/>
            <a:ext cx="657899" cy="58995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C21B6BA8-CB92-2C28-2DD4-A3E1A5A59A1F}"/>
              </a:ext>
            </a:extLst>
          </p:cNvPr>
          <p:cNvGrpSpPr/>
          <p:nvPr/>
        </p:nvGrpSpPr>
        <p:grpSpPr>
          <a:xfrm>
            <a:off x="6977304" y="5797286"/>
            <a:ext cx="1541722" cy="750651"/>
            <a:chOff x="3489428" y="4707473"/>
            <a:chExt cx="1541722" cy="750651"/>
          </a:xfrm>
        </p:grpSpPr>
        <p:pic>
          <p:nvPicPr>
            <p:cNvPr id="97" name="그림 96" descr="CCTV 카메라 문자 모양 솔리드 블랙 일러스트레이션 | 프리미엄 벡터">
              <a:extLst>
                <a:ext uri="{FF2B5EF4-FFF2-40B4-BE49-F238E27FC236}">
                  <a16:creationId xmlns:a16="http://schemas.microsoft.com/office/drawing/2014/main" id="{CE865110-D08E-AD64-24A5-46A00740F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89428" y="4707473"/>
              <a:ext cx="750651" cy="750651"/>
            </a:xfrm>
            <a:prstGeom prst="rect">
              <a:avLst/>
            </a:prstGeom>
          </p:spPr>
        </p:pic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22C8CE4-4AAE-9CDB-954C-9772D9D964C1}"/>
                </a:ext>
              </a:extLst>
            </p:cNvPr>
            <p:cNvSpPr txBox="1"/>
            <p:nvPr/>
          </p:nvSpPr>
          <p:spPr>
            <a:xfrm>
              <a:off x="4116750" y="4951503"/>
              <a:ext cx="914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CCTV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84955ACE-0DAD-035D-262B-86B9BFD05D04}"/>
              </a:ext>
            </a:extLst>
          </p:cNvPr>
          <p:cNvSpPr txBox="1"/>
          <p:nvPr/>
        </p:nvSpPr>
        <p:spPr>
          <a:xfrm>
            <a:off x="7863115" y="561882"/>
            <a:ext cx="691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BB4114CE-26E4-0026-1235-AE53A658F62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886551" y="4239825"/>
            <a:ext cx="2280809" cy="607277"/>
          </a:xfrm>
          <a:prstGeom prst="bentConnector3">
            <a:avLst>
              <a:gd name="adj1" fmla="val 26162"/>
            </a:avLst>
          </a:prstGeom>
          <a:ln w="12700">
            <a:solidFill>
              <a:schemeClr val="tx1"/>
            </a:solidFill>
            <a:headEnd w="med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01C33341-5CA0-A2EB-E88C-2A906F632518}"/>
              </a:ext>
            </a:extLst>
          </p:cNvPr>
          <p:cNvCxnSpPr>
            <a:cxnSpLocks/>
            <a:endCxn id="82" idx="0"/>
          </p:cNvCxnSpPr>
          <p:nvPr/>
        </p:nvCxnSpPr>
        <p:spPr>
          <a:xfrm>
            <a:off x="7735744" y="1122493"/>
            <a:ext cx="0" cy="451291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내용 개체 틀 2">
            <a:extLst>
              <a:ext uri="{FF2B5EF4-FFF2-40B4-BE49-F238E27FC236}">
                <a16:creationId xmlns:a16="http://schemas.microsoft.com/office/drawing/2014/main" id="{309F3837-1A8F-D642-71E8-234570ACA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182" y="1135126"/>
            <a:ext cx="3693459" cy="77292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[4-Layer Architecture]</a:t>
            </a:r>
            <a:endParaRPr lang="ko-KR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31C83E-24D0-0B4F-63C1-950A0D120EF2}"/>
              </a:ext>
            </a:extLst>
          </p:cNvPr>
          <p:cNvCxnSpPr/>
          <p:nvPr/>
        </p:nvCxnSpPr>
        <p:spPr>
          <a:xfrm>
            <a:off x="8519026" y="3403059"/>
            <a:ext cx="0" cy="228080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338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B00EA6D-6272-DD1A-4EDB-8F095F25986E}"/>
              </a:ext>
            </a:extLst>
          </p:cNvPr>
          <p:cNvCxnSpPr>
            <a:cxnSpLocks/>
          </p:cNvCxnSpPr>
          <p:nvPr/>
        </p:nvCxnSpPr>
        <p:spPr>
          <a:xfrm>
            <a:off x="-85725" y="908314"/>
            <a:ext cx="100393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rgbClr val="686868"/>
                </a:gs>
                <a:gs pos="100000">
                  <a:schemeClr val="bg2">
                    <a:lumMod val="1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6640F390-DD79-D0E0-8DE8-A9A5A2646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82" y="17405"/>
            <a:ext cx="8543925" cy="785776"/>
          </a:xfrm>
        </p:spPr>
        <p:txBody>
          <a:bodyPr/>
          <a:lstStyle/>
          <a:p>
            <a:r>
              <a:rPr lang="en-US" altLang="ko-KR" dirty="0"/>
              <a:t>Prototype Implementation</a:t>
            </a:r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2BB0C2-8FF6-4571-D3BD-BC2AD34E63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61"/>
          <a:stretch>
            <a:fillRect/>
          </a:stretch>
        </p:blipFill>
        <p:spPr>
          <a:xfrm>
            <a:off x="4090873" y="1013448"/>
            <a:ext cx="5815127" cy="36347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7C8C8C-4147-3106-21B6-93544CD81630}"/>
              </a:ext>
            </a:extLst>
          </p:cNvPr>
          <p:cNvSpPr txBox="1"/>
          <p:nvPr/>
        </p:nvSpPr>
        <p:spPr>
          <a:xfrm>
            <a:off x="5391149" y="4753333"/>
            <a:ext cx="4410075" cy="1074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▲ 관제 시스템 메인 대시보드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시스템에 등록된 모든 카메라 영상을 실시간으로 표시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우측 하단 제어 버튼을 통해 카메라 제어 가능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(PTZ)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B47D11-A311-1F83-1435-D86C1B439E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59" t="8505" r="22885" b="20431"/>
          <a:stretch>
            <a:fillRect/>
          </a:stretch>
        </p:blipFill>
        <p:spPr>
          <a:xfrm>
            <a:off x="191182" y="3497902"/>
            <a:ext cx="5076143" cy="31981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B084898-5695-99B2-221C-126CADC4A919}"/>
              </a:ext>
            </a:extLst>
          </p:cNvPr>
          <p:cNvSpPr txBox="1"/>
          <p:nvPr/>
        </p:nvSpPr>
        <p:spPr>
          <a:xfrm>
            <a:off x="9525" y="2097054"/>
            <a:ext cx="4090873" cy="1371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반응형 대시보드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lvl="1">
              <a:lnSpc>
                <a:spcPct val="130000"/>
              </a:lnSpc>
              <a:tabLst>
                <a:tab pos="361950" algn="l"/>
              </a:tabLst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수에 따라 그리드의 개수와 크기를 자동 조정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lvl="1">
              <a:lnSpc>
                <a:spcPct val="130000"/>
              </a:lnSpc>
              <a:tabLst>
                <a:tab pos="361950" algn="l"/>
              </a:tabLst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각 영상이 최대 크기로 표시되도록 최적의 레이아웃 자동 구성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lvl="1">
              <a:lnSpc>
                <a:spcPct val="130000"/>
              </a:lnSpc>
              <a:tabLst>
                <a:tab pos="361950" algn="l"/>
              </a:tabLst>
            </a:pPr>
            <a:endParaRPr lang="en-US" altLang="ko-KR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▼ 카메라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 설치 예시</a:t>
            </a:r>
          </a:p>
        </p:txBody>
      </p:sp>
    </p:spTree>
    <p:extLst>
      <p:ext uri="{BB962C8B-B14F-4D97-AF65-F5344CB8AC3E}">
        <p14:creationId xmlns:p14="http://schemas.microsoft.com/office/powerpoint/2010/main" val="2302725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6">
            <a:extLst>
              <a:ext uri="{FF2B5EF4-FFF2-40B4-BE49-F238E27FC236}">
                <a16:creationId xmlns:a16="http://schemas.microsoft.com/office/drawing/2014/main" id="{D0429256-F9AB-12CC-181D-44ECE65C6D6D}"/>
              </a:ext>
            </a:extLst>
          </p:cNvPr>
          <p:cNvCxnSpPr>
            <a:cxnSpLocks/>
          </p:cNvCxnSpPr>
          <p:nvPr/>
        </p:nvCxnSpPr>
        <p:spPr>
          <a:xfrm>
            <a:off x="-57150" y="905812"/>
            <a:ext cx="100012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rgbClr val="585858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99F0861-CA9A-2834-FE52-6D6D30D29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3448"/>
            <a:ext cx="5827938" cy="36347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52D173-BF90-A29E-4EC6-407F7F4D4EEB}"/>
              </a:ext>
            </a:extLst>
          </p:cNvPr>
          <p:cNvSpPr txBox="1"/>
          <p:nvPr/>
        </p:nvSpPr>
        <p:spPr>
          <a:xfrm>
            <a:off x="261937" y="4755835"/>
            <a:ext cx="3914775" cy="137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▲ 과거 영상 조회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저장된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CCTV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영상 조회 가능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저장 공간이 허용하는 범위 내에서 영상 보관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저장 공간 부족 시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가장 오래된 영상부터 자동 삭제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9CE088-B69F-AA62-BC18-F3F01A078D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34" t="14610"/>
          <a:stretch>
            <a:fillRect/>
          </a:stretch>
        </p:blipFill>
        <p:spPr>
          <a:xfrm>
            <a:off x="4438649" y="3736564"/>
            <a:ext cx="5410201" cy="30143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FF8ED2-E129-DF10-BDD9-8639718ABF84}"/>
              </a:ext>
            </a:extLst>
          </p:cNvPr>
          <p:cNvSpPr txBox="1"/>
          <p:nvPr/>
        </p:nvSpPr>
        <p:spPr>
          <a:xfrm>
            <a:off x="6166756" y="2195460"/>
            <a:ext cx="3343275" cy="1433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시스템이 감지한 이벤트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이력 조회 가능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버티포트 내 사람 접근 이벤트를 자동 기록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사용자 접근 및 설정 변경 내역을 자동 저장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30000"/>
              </a:lnSpc>
              <a:buFontTx/>
              <a:buChar char="-"/>
            </a:pPr>
            <a:endParaRPr lang="en-US" altLang="ko-KR" sz="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▼ 시스템 로그 조회</a:t>
            </a:r>
          </a:p>
        </p:txBody>
      </p:sp>
    </p:spTree>
    <p:extLst>
      <p:ext uri="{BB962C8B-B14F-4D97-AF65-F5344CB8AC3E}">
        <p14:creationId xmlns:p14="http://schemas.microsoft.com/office/powerpoint/2010/main" val="540895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3ADC2ED3-374A-F336-CFF8-6F6E81337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182" y="5030624"/>
            <a:ext cx="9714818" cy="140335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 dirty="0"/>
              <a:t>드론 버티포트 환경을 위한 웹 기반 </a:t>
            </a:r>
            <a:r>
              <a:rPr lang="en-US" altLang="ko-KR" sz="1600" dirty="0"/>
              <a:t>CCTV </a:t>
            </a:r>
            <a:r>
              <a:rPr lang="ko-KR" altLang="en-US" sz="1600" dirty="0"/>
              <a:t>통합 관제 시스템을 설계</a:t>
            </a:r>
            <a:r>
              <a:rPr lang="en-US" altLang="ko-KR" sz="1600" dirty="0"/>
              <a:t>·</a:t>
            </a:r>
            <a:r>
              <a:rPr lang="ko-KR" altLang="en-US" sz="1600" dirty="0"/>
              <a:t>구현하였다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>
              <a:lnSpc>
                <a:spcPct val="130000"/>
              </a:lnSpc>
            </a:pPr>
            <a:r>
              <a:rPr lang="ko-KR" altLang="en-US" sz="1600" dirty="0"/>
              <a:t>오픈소스 및 개방형 프로토콜 기반 접근을 통해 저비용</a:t>
            </a:r>
            <a:r>
              <a:rPr lang="en-US" altLang="ko-KR" sz="1600" dirty="0"/>
              <a:t>·</a:t>
            </a:r>
            <a:r>
              <a:rPr lang="ko-KR" altLang="en-US" sz="1600" dirty="0"/>
              <a:t>하드웨어 독립형 관제 시스템의 실현 가능성을 확인하였다</a:t>
            </a:r>
            <a:r>
              <a:rPr lang="en-US" altLang="ko-KR" sz="1600" dirty="0"/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600" dirty="0"/>
              <a:t>본 연구는 향후 버티포트 관제 시스템 구축의 기술적 기반 및 참조 사례로 활용될 것으로 기대된다</a:t>
            </a:r>
            <a:r>
              <a:rPr lang="en-US" altLang="ko-KR" sz="1600" dirty="0"/>
              <a:t>.</a:t>
            </a:r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41883909-0E49-FC4F-A877-EFDD5A39B455}"/>
              </a:ext>
            </a:extLst>
          </p:cNvPr>
          <p:cNvSpPr txBox="1">
            <a:spLocks/>
          </p:cNvSpPr>
          <p:nvPr/>
        </p:nvSpPr>
        <p:spPr>
          <a:xfrm>
            <a:off x="191182" y="3752686"/>
            <a:ext cx="60830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Calibri" panose="020F0502020204030204" pitchFamily="34" charset="0"/>
                <a:ea typeface="나눔바른고딕" panose="020B0603020101020101" pitchFamily="50" charset="-127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cxnSp>
        <p:nvCxnSpPr>
          <p:cNvPr id="2" name="직선 연결선 6">
            <a:extLst>
              <a:ext uri="{FF2B5EF4-FFF2-40B4-BE49-F238E27FC236}">
                <a16:creationId xmlns:a16="http://schemas.microsoft.com/office/drawing/2014/main" id="{B3FFED33-3AD6-E945-2A84-53E5CCFEDAAD}"/>
              </a:ext>
            </a:extLst>
          </p:cNvPr>
          <p:cNvCxnSpPr>
            <a:cxnSpLocks/>
          </p:cNvCxnSpPr>
          <p:nvPr/>
        </p:nvCxnSpPr>
        <p:spPr>
          <a:xfrm>
            <a:off x="-85725" y="4905543"/>
            <a:ext cx="100393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rgbClr val="686868"/>
                </a:gs>
                <a:gs pos="100000">
                  <a:schemeClr val="bg2">
                    <a:lumMod val="1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6">
            <a:extLst>
              <a:ext uri="{FF2B5EF4-FFF2-40B4-BE49-F238E27FC236}">
                <a16:creationId xmlns:a16="http://schemas.microsoft.com/office/drawing/2014/main" id="{77C1F95C-944F-20EE-87C0-502B4D5BC786}"/>
              </a:ext>
            </a:extLst>
          </p:cNvPr>
          <p:cNvCxnSpPr>
            <a:cxnSpLocks/>
          </p:cNvCxnSpPr>
          <p:nvPr/>
        </p:nvCxnSpPr>
        <p:spPr>
          <a:xfrm>
            <a:off x="-85725" y="3908765"/>
            <a:ext cx="100393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rgbClr val="686868"/>
                </a:gs>
                <a:gs pos="100000">
                  <a:schemeClr val="bg2">
                    <a:lumMod val="1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DAABAAF-7F62-35CA-46B6-F0C6148DE4BF}"/>
              </a:ext>
            </a:extLst>
          </p:cNvPr>
          <p:cNvSpPr txBox="1"/>
          <p:nvPr/>
        </p:nvSpPr>
        <p:spPr>
          <a:xfrm>
            <a:off x="5572807" y="120408"/>
            <a:ext cx="3798998" cy="1488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◀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영상 확대 조회</a:t>
            </a:r>
          </a:p>
          <a:p>
            <a:pPr>
              <a:lnSpc>
                <a:spcPct val="150000"/>
              </a:lnSpc>
            </a:pPr>
            <a:endParaRPr lang="en-US" altLang="ko-KR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영상 선택 시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확대 화면으로 전환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확대 화면에서도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PTZ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제어 가능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245CCCA-F78D-799D-CF1E-40BBC91123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21" t="5440" r="19983" b="21547"/>
          <a:stretch>
            <a:fillRect/>
          </a:stretch>
        </p:blipFill>
        <p:spPr>
          <a:xfrm>
            <a:off x="205468" y="120408"/>
            <a:ext cx="5185681" cy="306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80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EE234ED3-0C81-FC8B-6C01-A446639B0027}"/>
              </a:ext>
            </a:extLst>
          </p:cNvPr>
          <p:cNvSpPr txBox="1">
            <a:spLocks/>
          </p:cNvSpPr>
          <p:nvPr/>
        </p:nvSpPr>
        <p:spPr>
          <a:xfrm>
            <a:off x="105457" y="4964118"/>
            <a:ext cx="8467043" cy="9942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800" dirty="0"/>
              <a:t>버티포트 내 이벤트 자동 감지</a:t>
            </a:r>
            <a:r>
              <a:rPr lang="en-US" altLang="ko-KR" sz="1800" dirty="0"/>
              <a:t>: </a:t>
            </a:r>
            <a:r>
              <a:rPr lang="ko-KR" altLang="en-US" sz="1600" dirty="0"/>
              <a:t>관제 업무 자동화 및 운영 효율성 개선 효과 검증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800" dirty="0"/>
              <a:t>다중 버티포트 통합 관제 시스템 확장</a:t>
            </a:r>
            <a:r>
              <a:rPr lang="en-US" altLang="ko-KR" sz="1800" dirty="0"/>
              <a:t>: </a:t>
            </a:r>
            <a:r>
              <a:rPr lang="ko-KR" altLang="en-US" sz="1600" dirty="0"/>
              <a:t>시스템 확장성 및 비용 절감 효과 분석</a:t>
            </a:r>
            <a:endParaRPr lang="en-US" altLang="ko-KR" sz="1600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DE800317-3B47-9FB9-AAD3-A4FA94634EF2}"/>
              </a:ext>
            </a:extLst>
          </p:cNvPr>
          <p:cNvSpPr txBox="1">
            <a:spLocks/>
          </p:cNvSpPr>
          <p:nvPr/>
        </p:nvSpPr>
        <p:spPr>
          <a:xfrm>
            <a:off x="105457" y="3752686"/>
            <a:ext cx="60830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Calibri" panose="020F0502020204030204" pitchFamily="34" charset="0"/>
                <a:ea typeface="나눔바른고딕" panose="020B0603020101020101" pitchFamily="50" charset="-127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Future Works</a:t>
            </a:r>
            <a:endParaRPr lang="ko-KR" altLang="en-US" dirty="0"/>
          </a:p>
        </p:txBody>
      </p:sp>
      <p:cxnSp>
        <p:nvCxnSpPr>
          <p:cNvPr id="5" name="직선 연결선 6">
            <a:extLst>
              <a:ext uri="{FF2B5EF4-FFF2-40B4-BE49-F238E27FC236}">
                <a16:creationId xmlns:a16="http://schemas.microsoft.com/office/drawing/2014/main" id="{C9B52414-12C1-FE42-218B-2946BAD27170}"/>
              </a:ext>
            </a:extLst>
          </p:cNvPr>
          <p:cNvCxnSpPr>
            <a:cxnSpLocks/>
          </p:cNvCxnSpPr>
          <p:nvPr/>
        </p:nvCxnSpPr>
        <p:spPr>
          <a:xfrm>
            <a:off x="-57150" y="3908765"/>
            <a:ext cx="99631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rgbClr val="585858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6">
            <a:extLst>
              <a:ext uri="{FF2B5EF4-FFF2-40B4-BE49-F238E27FC236}">
                <a16:creationId xmlns:a16="http://schemas.microsoft.com/office/drawing/2014/main" id="{7CD03518-AFC8-A687-C22D-919AD5E4A07C}"/>
              </a:ext>
            </a:extLst>
          </p:cNvPr>
          <p:cNvCxnSpPr>
            <a:cxnSpLocks/>
          </p:cNvCxnSpPr>
          <p:nvPr/>
        </p:nvCxnSpPr>
        <p:spPr>
          <a:xfrm>
            <a:off x="-57150" y="4908890"/>
            <a:ext cx="99631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rgbClr val="585858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73731C28-598E-8B83-A2C2-4B712E0D9C9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769" y="6389612"/>
            <a:ext cx="1803518" cy="245449"/>
          </a:xfrm>
          <a:prstGeom prst="rect">
            <a:avLst/>
          </a:prstGeom>
        </p:spPr>
      </p:pic>
      <p:pic>
        <p:nvPicPr>
          <p:cNvPr id="12" name="그림 11" descr="엠엠피 2026년 기업정보 - 직원수, 근무환경, 복리후생 등 | 잡코리아">
            <a:extLst>
              <a:ext uri="{FF2B5EF4-FFF2-40B4-BE49-F238E27FC236}">
                <a16:creationId xmlns:a16="http://schemas.microsoft.com/office/drawing/2014/main" id="{8C92CF84-29B1-9CEC-9CEA-463A62131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0287" y="6317351"/>
            <a:ext cx="1194264" cy="3177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586727-D7A0-20B6-BAFD-53D58C8787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642" t="12726" r="20858" b="15201"/>
          <a:stretch>
            <a:fillRect/>
          </a:stretch>
        </p:blipFill>
        <p:spPr>
          <a:xfrm>
            <a:off x="4814042" y="17962"/>
            <a:ext cx="4792628" cy="37347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28FC77-21AF-F7B9-01BE-C0A47AF0C156}"/>
              </a:ext>
            </a:extLst>
          </p:cNvPr>
          <p:cNvSpPr txBox="1"/>
          <p:nvPr/>
        </p:nvSpPr>
        <p:spPr>
          <a:xfrm>
            <a:off x="1393722" y="122737"/>
            <a:ext cx="3353645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tabLst>
                <a:tab pos="4667250" algn="l"/>
              </a:tabLst>
            </a:pP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사람 감지 기능 ▶ </a:t>
            </a:r>
          </a:p>
          <a:p>
            <a:pPr>
              <a:lnSpc>
                <a:spcPct val="150000"/>
              </a:lnSpc>
            </a:pP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버티포트 내 사람 진입 여부를 자동 감지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80975" indent="-180975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진입 시각과 현장 상황 이미지를 저장</a:t>
            </a:r>
            <a:endParaRPr lang="en-US" altLang="ko-KR" sz="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9099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218</TotalTime>
  <Words>826</Words>
  <Application>Microsoft Office PowerPoint</Application>
  <PresentationFormat>A4 Paper (210x297 mm)</PresentationFormat>
  <Paragraphs>130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나눔바른고딕</vt:lpstr>
      <vt:lpstr>나눔바른고딕 Light</vt:lpstr>
      <vt:lpstr>맑은 고딕</vt:lpstr>
      <vt:lpstr>Aptos</vt:lpstr>
      <vt:lpstr>Aptos Display</vt:lpstr>
      <vt:lpstr>Arial</vt:lpstr>
      <vt:lpstr>Calibri</vt:lpstr>
      <vt:lpstr>Office 테마</vt:lpstr>
      <vt:lpstr>드론 버티포트 환경을 위한 웹 기반 CCTV 통합 감시 시스템 설계 및 구현</vt:lpstr>
      <vt:lpstr>Background</vt:lpstr>
      <vt:lpstr>User Requirements</vt:lpstr>
      <vt:lpstr>PowerPoint Presentation</vt:lpstr>
      <vt:lpstr>Prototype Implementation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형철 서</dc:creator>
  <cp:lastModifiedBy>서형철</cp:lastModifiedBy>
  <cp:revision>168</cp:revision>
  <dcterms:created xsi:type="dcterms:W3CDTF">2026-05-28T08:02:25Z</dcterms:created>
  <dcterms:modified xsi:type="dcterms:W3CDTF">2026-06-04T12:32:59Z</dcterms:modified>
</cp:coreProperties>
</file>