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1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898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63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31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38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00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61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12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714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40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14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15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4E94E-DBF1-4B2A-9CA1-B750FDC380FE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9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42" y="72850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err="1">
                <a:solidFill>
                  <a:srgbClr val="002060"/>
                </a:solidFill>
                <a:latin typeface="+mn-ea"/>
              </a:rPr>
              <a:t>드론</a:t>
            </a:r>
            <a:r>
              <a:rPr lang="ko-KR" altLang="en-US" sz="3600" dirty="0">
                <a:solidFill>
                  <a:srgbClr val="002060"/>
                </a:solidFill>
                <a:latin typeface="+mn-ea"/>
              </a:rPr>
              <a:t> 이착륙장</a:t>
            </a:r>
            <a:r>
              <a:rPr lang="en-US" altLang="ko-KR" sz="3600" dirty="0">
                <a:solidFill>
                  <a:srgbClr val="002060"/>
                </a:solidFill>
                <a:latin typeface="+mn-ea"/>
              </a:rPr>
              <a:t>(</a:t>
            </a:r>
            <a:r>
              <a:rPr lang="ko-KR" altLang="en-US" sz="3600" dirty="0" err="1">
                <a:solidFill>
                  <a:srgbClr val="002060"/>
                </a:solidFill>
                <a:latin typeface="+mn-ea"/>
              </a:rPr>
              <a:t>버티포트</a:t>
            </a:r>
            <a:r>
              <a:rPr lang="en-US" altLang="ko-KR" sz="3600" dirty="0">
                <a:solidFill>
                  <a:srgbClr val="002060"/>
                </a:solidFill>
                <a:latin typeface="+mn-ea"/>
              </a:rPr>
              <a:t>)</a:t>
            </a:r>
            <a:r>
              <a:rPr lang="ko-KR" altLang="en-US" sz="3600" dirty="0">
                <a:solidFill>
                  <a:srgbClr val="002060"/>
                </a:solidFill>
                <a:latin typeface="+mn-ea"/>
              </a:rPr>
              <a:t> </a:t>
            </a:r>
            <a:r>
              <a:rPr lang="en-US" altLang="ko-KR" sz="3600" dirty="0">
                <a:solidFill>
                  <a:srgbClr val="002060"/>
                </a:solidFill>
                <a:latin typeface="+mn-ea"/>
              </a:rPr>
              <a:t>CCTV </a:t>
            </a:r>
            <a:r>
              <a:rPr lang="ko-KR" altLang="en-US" sz="3600" dirty="0">
                <a:solidFill>
                  <a:srgbClr val="002060"/>
                </a:solidFill>
                <a:latin typeface="+mn-ea"/>
              </a:rPr>
              <a:t>기반 감시 시스템 개발</a:t>
            </a:r>
            <a:endParaRPr lang="en-US" altLang="ko-KR" sz="3600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81891" y="4663440"/>
            <a:ext cx="11489794" cy="180386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542" y="2279757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기업명 </a:t>
            </a:r>
            <a:r>
              <a:rPr lang="en-US" altLang="ko-KR" sz="2000" dirty="0"/>
              <a:t>:  </a:t>
            </a:r>
            <a:r>
              <a:rPr lang="ko-KR" altLang="en-US" sz="2000" dirty="0"/>
              <a:t>㈜ </a:t>
            </a:r>
            <a:r>
              <a:rPr lang="ko-KR" altLang="en-US" sz="2000" dirty="0" err="1"/>
              <a:t>엠엠피</a:t>
            </a:r>
            <a:r>
              <a:rPr lang="en-US" altLang="ko-KR" sz="2000" dirty="0"/>
              <a:t>                  </a:t>
            </a:r>
            <a:r>
              <a:rPr lang="ko-KR" altLang="en-US" sz="2000" dirty="0"/>
              <a:t>멘토 </a:t>
            </a:r>
            <a:r>
              <a:rPr lang="en-US" altLang="ko-KR" sz="2000" dirty="0"/>
              <a:t>: </a:t>
            </a:r>
            <a:r>
              <a:rPr lang="ko-KR" altLang="en-US" sz="2000" dirty="0"/>
              <a:t>김진규 대표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699154"/>
              </p:ext>
            </p:extLst>
          </p:nvPr>
        </p:nvGraphicFramePr>
        <p:xfrm>
          <a:off x="644236" y="2819570"/>
          <a:ext cx="11039305" cy="85199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207861">
                  <a:extLst>
                    <a:ext uri="{9D8B030D-6E8A-4147-A177-3AD203B41FA5}">
                      <a16:colId xmlns:a16="http://schemas.microsoft.com/office/drawing/2014/main" val="3879655121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2052876400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1287686911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3437281430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1670297334"/>
                    </a:ext>
                  </a:extLst>
                </a:gridCol>
              </a:tblGrid>
              <a:tr h="425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295558"/>
                  </a:ext>
                </a:extLst>
              </a:tr>
              <a:tr h="425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/>
                        <a:t>서형철</a:t>
                      </a:r>
                      <a:endParaRPr lang="ko-KR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이상민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유지훈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이준섭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/>
                        <a:t>이견희</a:t>
                      </a:r>
                      <a:endParaRPr lang="ko-KR" altLang="en-US" sz="2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85899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37900" y="4745024"/>
            <a:ext cx="1161010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○ </a:t>
            </a:r>
            <a:r>
              <a:rPr lang="en" altLang="ko-KR" sz="2000" dirty="0"/>
              <a:t>UAM </a:t>
            </a:r>
            <a:r>
              <a:rPr lang="ko-KR" altLang="en-US" sz="2000" dirty="0"/>
              <a:t>상용화로 </a:t>
            </a:r>
            <a:r>
              <a:rPr lang="ko-KR" altLang="en-US" sz="2000" dirty="0" err="1"/>
              <a:t>버티포트의</a:t>
            </a:r>
            <a:r>
              <a:rPr lang="ko-KR" altLang="en-US" sz="2000" dirty="0"/>
              <a:t> 안전 관리 중요성이 커지고 있으나</a:t>
            </a:r>
            <a:r>
              <a:rPr lang="en-US" altLang="ko-KR" sz="2000" dirty="0"/>
              <a:t>, </a:t>
            </a:r>
            <a:r>
              <a:rPr lang="ko-KR" altLang="en-US" sz="2000" dirty="0"/>
              <a:t>기존 </a:t>
            </a:r>
            <a:r>
              <a:rPr lang="en" altLang="ko-KR" sz="2000" dirty="0"/>
              <a:t>CCTV</a:t>
            </a:r>
            <a:r>
              <a:rPr lang="ko-KR" altLang="en-US" sz="2000" dirty="0"/>
              <a:t>는 단순 녹화 수동 감시 중심으로 실시간 통합 관제에 한계가 있다</a:t>
            </a:r>
            <a:endParaRPr lang="en-US" altLang="ko-KR" sz="2000" dirty="0"/>
          </a:p>
          <a:p>
            <a:endParaRPr lang="en-US" altLang="ko-KR" sz="1200" dirty="0"/>
          </a:p>
          <a:p>
            <a:r>
              <a:rPr lang="ko-KR" altLang="en-US" sz="2000" dirty="0"/>
              <a:t>○ </a:t>
            </a:r>
            <a:r>
              <a:rPr lang="ko-KR" altLang="en-US" sz="2000" dirty="0" err="1"/>
              <a:t>버티포트</a:t>
            </a:r>
            <a:r>
              <a:rPr lang="ko-KR" altLang="en-US" sz="2000" dirty="0"/>
              <a:t> 환경에 특화된 웹 기반 </a:t>
            </a:r>
            <a:r>
              <a:rPr lang="en" altLang="ko-KR" sz="2000" dirty="0"/>
              <a:t>CCTV </a:t>
            </a:r>
            <a:r>
              <a:rPr lang="ko-KR" altLang="en-US" sz="2000" dirty="0"/>
              <a:t>통합 감시 시스템을 구축하여</a:t>
            </a:r>
            <a:r>
              <a:rPr lang="en-US" altLang="ko-KR" sz="2000" dirty="0"/>
              <a:t>, 0.5</a:t>
            </a:r>
            <a:r>
              <a:rPr lang="ko-KR" altLang="en-US" sz="2000" dirty="0"/>
              <a:t>초 이하 </a:t>
            </a:r>
            <a:r>
              <a:rPr lang="ko-KR" altLang="en-US" sz="2000" dirty="0" err="1"/>
              <a:t>저지연</a:t>
            </a:r>
            <a:r>
              <a:rPr lang="ko-KR" altLang="en-US" sz="2000" dirty="0"/>
              <a:t> 실시간 관제 </a:t>
            </a:r>
            <a:r>
              <a:rPr lang="en-US" altLang="ko-KR" sz="2000" dirty="0"/>
              <a:t>· 24</a:t>
            </a:r>
            <a:r>
              <a:rPr lang="ko-KR" altLang="en-US" sz="2000" dirty="0"/>
              <a:t>시간 </a:t>
            </a:r>
            <a:r>
              <a:rPr lang="ko-KR" altLang="en-US" sz="2000" dirty="0" err="1"/>
              <a:t>무중단</a:t>
            </a:r>
            <a:r>
              <a:rPr lang="ko-KR" altLang="en-US" sz="2000" dirty="0"/>
              <a:t> 녹화 </a:t>
            </a:r>
            <a:r>
              <a:rPr lang="en-US" altLang="ko-KR" sz="2000" dirty="0"/>
              <a:t>· </a:t>
            </a:r>
            <a:r>
              <a:rPr lang="en" altLang="ko-KR" sz="2000" dirty="0"/>
              <a:t>PTZ </a:t>
            </a:r>
            <a:r>
              <a:rPr lang="ko-KR" altLang="en-US" sz="2000" dirty="0"/>
              <a:t>기반 전역 관제를 하나의 플랫폼에서 제공한다</a:t>
            </a:r>
            <a:endParaRPr lang="en-US" altLang="ko-KR" sz="2000" dirty="0"/>
          </a:p>
        </p:txBody>
      </p:sp>
      <p:grpSp>
        <p:nvGrpSpPr>
          <p:cNvPr id="20" name="그룹 19"/>
          <p:cNvGrpSpPr/>
          <p:nvPr/>
        </p:nvGrpSpPr>
        <p:grpSpPr>
          <a:xfrm>
            <a:off x="581891" y="4073237"/>
            <a:ext cx="4463934" cy="448887"/>
            <a:chOff x="627842" y="1492250"/>
            <a:chExt cx="2664888" cy="444500"/>
          </a:xfrm>
        </p:grpSpPr>
        <p:pic>
          <p:nvPicPr>
            <p:cNvPr id="21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22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배경 및 목표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124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시스템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 </a:t>
              </a: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전체 구조도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(</a:t>
              </a:r>
              <a:r>
                <a:rPr lang="ko-KR" altLang="en-US" sz="2000" b="1" dirty="0" err="1">
                  <a:solidFill>
                    <a:srgbClr val="1C5E8D"/>
                  </a:solidFill>
                  <a:latin typeface="+mn-ea"/>
                </a:rPr>
                <a:t>기술스택</a:t>
              </a: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 포함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)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F00F721E-F23E-881F-D589-0E1C178AB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605" y="904046"/>
            <a:ext cx="6860790" cy="580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9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구현 기능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9E7E135-196D-F65B-ADE3-0DEFABD60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00" y="1130168"/>
            <a:ext cx="3175721" cy="20625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677714-0DE9-4406-1936-1903C5026546}"/>
              </a:ext>
            </a:extLst>
          </p:cNvPr>
          <p:cNvSpPr txBox="1"/>
          <p:nvPr/>
        </p:nvSpPr>
        <p:spPr>
          <a:xfrm>
            <a:off x="847898" y="3230737"/>
            <a:ext cx="3418377" cy="830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▷ 관제 시스템 메인 대시보드</a:t>
            </a:r>
            <a:endParaRPr lang="en-US" altLang="ko-KR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영상 실시간 스트리밍</a:t>
            </a:r>
            <a:endParaRPr lang="en-US" altLang="ko-KR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우측 하단 제어 버튼을 통해 카메라 제어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B39609-47F8-0221-B614-89A9D1B75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499" y="1137423"/>
            <a:ext cx="3317615" cy="20625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C6F75C-39A6-53EE-B9AB-704F22E26E38}"/>
              </a:ext>
            </a:extLst>
          </p:cNvPr>
          <p:cNvSpPr txBox="1"/>
          <p:nvPr/>
        </p:nvSpPr>
        <p:spPr>
          <a:xfrm>
            <a:off x="4313499" y="3230738"/>
            <a:ext cx="3632577" cy="830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▷ 사람 감지 기능</a:t>
            </a:r>
            <a:endParaRPr lang="en-US" altLang="ko-KR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3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버티포트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내 사람 진입 여부를 자동 감지</a:t>
            </a:r>
            <a:endParaRPr lang="en-US" altLang="ko-KR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진입 시각과 현장 상황 이미지를 저장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B5877C5-2C8A-10F5-9E75-AD57525C1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3925" y="1130168"/>
            <a:ext cx="3317614" cy="20691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2F0E98-BDB8-C3D9-42FF-CE26B2CF7FC8}"/>
              </a:ext>
            </a:extLst>
          </p:cNvPr>
          <p:cNvSpPr txBox="1"/>
          <p:nvPr/>
        </p:nvSpPr>
        <p:spPr>
          <a:xfrm>
            <a:off x="7933925" y="3230738"/>
            <a:ext cx="3708481" cy="799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▷ 과거 영상 조회</a:t>
            </a:r>
            <a:endParaRPr lang="en-US" altLang="ko-KR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저장된 </a:t>
            </a:r>
            <a:r>
              <a:rPr lang="en" altLang="ko-KR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CCTV 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영상 조회 가능</a:t>
            </a: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저장 공간이 허용하는 범위 내에서 영상 보관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0B51826-225D-8359-AA01-2D16D14613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462" y="4262529"/>
            <a:ext cx="3169525" cy="198463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66D9277-707C-0C29-D0E0-A57685D5A2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3547" y="4262529"/>
            <a:ext cx="3326796" cy="198463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65E256C-6C91-55E9-321F-EFC9C818A324}"/>
              </a:ext>
            </a:extLst>
          </p:cNvPr>
          <p:cNvSpPr txBox="1"/>
          <p:nvPr/>
        </p:nvSpPr>
        <p:spPr>
          <a:xfrm>
            <a:off x="7452274" y="4595147"/>
            <a:ext cx="3632577" cy="1319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▷ 외부 카메라 등록 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&amp;</a:t>
            </a:r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과거 영상 조회</a:t>
            </a:r>
            <a:endParaRPr lang="en-US" altLang="ko-KR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카메라 손쉽게 등록</a:t>
            </a:r>
            <a:endParaRPr lang="en-US" altLang="ko-KR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시스템이 감지한 이벤트 이력 조회 가능</a:t>
            </a: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3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버티포트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내 사람 접근 이벤트를 자동 기록</a:t>
            </a:r>
            <a:endParaRPr lang="en-US" altLang="ko-KR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사용자 접근 및 설정 변경 내역을 자동 저장</a:t>
            </a:r>
          </a:p>
        </p:txBody>
      </p:sp>
    </p:spTree>
    <p:extLst>
      <p:ext uri="{BB962C8B-B14F-4D97-AF65-F5344CB8AC3E}">
        <p14:creationId xmlns:p14="http://schemas.microsoft.com/office/powerpoint/2010/main" val="2599715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프로젝트 결과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pic>
        <p:nvPicPr>
          <p:cNvPr id="22" name="그림 21" descr="텍스트, 영수증, 스크린샷, 폰트이(가) 표시된 사진&#10;&#10;자동 생성된 설명">
            <a:extLst>
              <a:ext uri="{FF2B5EF4-FFF2-40B4-BE49-F238E27FC236}">
                <a16:creationId xmlns:a16="http://schemas.microsoft.com/office/drawing/2014/main" id="{67DF32D5-DCF4-1BBD-F5B1-D1318EF427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45" y="1114336"/>
            <a:ext cx="6274918" cy="2928295"/>
          </a:xfrm>
          <a:prstGeom prst="rect">
            <a:avLst/>
          </a:prstGeom>
        </p:spPr>
      </p:pic>
      <p:pic>
        <p:nvPicPr>
          <p:cNvPr id="24" name="그림 23" descr="텍스트, 영수증, 스크린샷, 폰트이(가) 표시된 사진&#10;&#10;자동 생성된 설명">
            <a:extLst>
              <a:ext uri="{FF2B5EF4-FFF2-40B4-BE49-F238E27FC236}">
                <a16:creationId xmlns:a16="http://schemas.microsoft.com/office/drawing/2014/main" id="{4283664D-128B-5243-AB20-2DA1F1A33B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45" y="4019803"/>
            <a:ext cx="6274917" cy="240538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63E6A8F-D4F4-3F23-5192-D7E98338DC80}"/>
              </a:ext>
            </a:extLst>
          </p:cNvPr>
          <p:cNvSpPr txBox="1"/>
          <p:nvPr/>
        </p:nvSpPr>
        <p:spPr>
          <a:xfrm>
            <a:off x="6316883" y="1605545"/>
            <a:ext cx="5762822" cy="3364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▷ 시스템 및 과제 목표 대비 검증</a:t>
            </a:r>
            <a:endParaRPr lang="en-US" altLang="ko-KR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 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과제 목표 달성도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—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과제 목표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항목 전부 달성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② 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시스템 성능</a:t>
            </a: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기능 검증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— 7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항목 측정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목표 기준 충족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2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㈜</a:t>
            </a:r>
            <a:r>
              <a:rPr lang="ko-KR" altLang="en-US" sz="13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엠엠피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사내 테스트망에 서버</a:t>
            </a:r>
            <a:r>
              <a:rPr lang="en-US" altLang="ko-KR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설치</a:t>
            </a:r>
            <a:r>
              <a:rPr lang="en-US" altLang="ko-KR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공인 </a:t>
            </a:r>
            <a:r>
              <a:rPr lang="en" altLang="ko-KR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IP 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기반 원격 개발</a:t>
            </a:r>
            <a:r>
              <a:rPr lang="en-US" altLang="ko-KR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운영 검증</a:t>
            </a:r>
            <a:endParaRPr lang="en-US" altLang="ko-KR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실내 환경 카메라 </a:t>
            </a:r>
            <a:r>
              <a:rPr lang="en-US" altLang="ko-KR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 </a:t>
            </a:r>
            <a:r>
              <a:rPr lang="en-US" altLang="ko-KR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 </a:t>
            </a:r>
            <a:r>
              <a:rPr lang="ko-KR" altLang="en-US" sz="13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드론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패드 촬영 시나리오로 녹화</a:t>
            </a:r>
            <a:r>
              <a:rPr lang="en-US" altLang="ko-KR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관제 동작 확인</a:t>
            </a:r>
            <a:endParaRPr lang="en-US" altLang="ko-KR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30000"/>
              </a:lnSpc>
            </a:pPr>
            <a:endParaRPr lang="en-US" altLang="ko-KR" sz="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en" altLang="ko-KR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End-to-End 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 과정 정상 작동 확인</a:t>
            </a:r>
            <a:br>
              <a:rPr lang="en-US" altLang="ko-KR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등록 → 실시간 관제 → </a:t>
            </a:r>
            <a:r>
              <a:rPr lang="en" altLang="ko-KR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PTZ 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제어 → 녹화 → 검색</a:t>
            </a:r>
            <a:r>
              <a:rPr lang="en-US" altLang="ko-KR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재생</a:t>
            </a:r>
            <a:r>
              <a:rPr lang="en-US" altLang="ko-KR" sz="1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>
              <a:lnSpc>
                <a:spcPct val="130000"/>
              </a:lnSpc>
            </a:pP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→ </a:t>
            </a:r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버티포트</a:t>
            </a:r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환경에 적용 가능한 웹 기반 </a:t>
            </a:r>
            <a:r>
              <a:rPr lang="en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CCTV </a:t>
            </a:r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통합 관제 시스템의 실효성 확인</a:t>
            </a:r>
          </a:p>
        </p:txBody>
      </p:sp>
    </p:spTree>
    <p:extLst>
      <p:ext uri="{BB962C8B-B14F-4D97-AF65-F5344CB8AC3E}">
        <p14:creationId xmlns:p14="http://schemas.microsoft.com/office/powerpoint/2010/main" val="181232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581891" y="4605251"/>
            <a:ext cx="11039302" cy="180386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46368" y="4629314"/>
            <a:ext cx="11074825" cy="175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000" dirty="0"/>
              <a:t>○ </a:t>
            </a:r>
            <a:r>
              <a:rPr lang="en" altLang="ko-KR" sz="2000" dirty="0"/>
              <a:t>UAM </a:t>
            </a:r>
            <a:r>
              <a:rPr lang="ko-KR" altLang="en-US" sz="2000" dirty="0" err="1"/>
              <a:t>버티포트의</a:t>
            </a:r>
            <a:r>
              <a:rPr lang="ko-KR" altLang="en-US" sz="2000" dirty="0"/>
              <a:t> 실시간 통합 관제로 이착륙 구역 이상 상황 조기 감지</a:t>
            </a:r>
            <a:r>
              <a:rPr lang="en-US" altLang="ko-KR" sz="2000" dirty="0"/>
              <a:t>·</a:t>
            </a:r>
            <a:r>
              <a:rPr lang="ko-KR" altLang="en-US" sz="2000" dirty="0"/>
              <a:t>신속 대응</a:t>
            </a:r>
            <a:endParaRPr lang="en-US" altLang="ko-KR" sz="2000" dirty="0"/>
          </a:p>
          <a:p>
            <a:pPr>
              <a:lnSpc>
                <a:spcPct val="110000"/>
              </a:lnSpc>
            </a:pPr>
            <a:r>
              <a:rPr lang="ko-KR" altLang="en-US" sz="2000" dirty="0"/>
              <a:t>○</a:t>
            </a:r>
            <a:r>
              <a:rPr lang="en-US" altLang="ko-KR" sz="2000" dirty="0"/>
              <a:t> </a:t>
            </a:r>
            <a:r>
              <a:rPr lang="ko-KR" altLang="en-US" sz="2000" dirty="0"/>
              <a:t>수동 모니터링 → 상시 자동 감시 체계 전환으로 안전 사각지대 최소화</a:t>
            </a:r>
            <a:endParaRPr lang="en-US" altLang="ko-KR" sz="2000" dirty="0"/>
          </a:p>
          <a:p>
            <a:pPr>
              <a:lnSpc>
                <a:spcPct val="110000"/>
              </a:lnSpc>
            </a:pPr>
            <a:r>
              <a:rPr lang="ko-KR" altLang="en-US" sz="2000" dirty="0"/>
              <a:t>○ 날씨</a:t>
            </a:r>
            <a:r>
              <a:rPr lang="en-US" altLang="ko-KR" sz="2000" dirty="0"/>
              <a:t>·</a:t>
            </a:r>
            <a:r>
              <a:rPr lang="ko-KR" altLang="en-US" sz="2000" dirty="0"/>
              <a:t>전파 환경 연동으로 비행 가능 여부 판단 등 운영 의사결정 지원</a:t>
            </a:r>
            <a:endParaRPr lang="en-US" altLang="ko-KR" sz="2000" dirty="0"/>
          </a:p>
          <a:p>
            <a:pPr>
              <a:lnSpc>
                <a:spcPct val="110000"/>
              </a:lnSpc>
            </a:pPr>
            <a:r>
              <a:rPr lang="ko-KR" altLang="en-US" sz="2000" dirty="0"/>
              <a:t>○ </a:t>
            </a:r>
            <a:r>
              <a:rPr lang="en" altLang="ko-KR" sz="2000" dirty="0"/>
              <a:t>WebRTC </a:t>
            </a:r>
            <a:r>
              <a:rPr lang="ko-KR" altLang="en-US" sz="2000" dirty="0"/>
              <a:t>기반 </a:t>
            </a:r>
            <a:r>
              <a:rPr lang="en-US" altLang="ko-KR" sz="2000" dirty="0"/>
              <a:t>0.5</a:t>
            </a:r>
            <a:r>
              <a:rPr lang="ko-KR" altLang="en-US" sz="2000" dirty="0"/>
              <a:t>초 이하 </a:t>
            </a:r>
            <a:r>
              <a:rPr lang="ko-KR" altLang="en-US" sz="2000" dirty="0" err="1"/>
              <a:t>저지연</a:t>
            </a:r>
            <a:r>
              <a:rPr lang="ko-KR" altLang="en-US" sz="2000" dirty="0"/>
              <a:t> 관제 </a:t>
            </a:r>
            <a:r>
              <a:rPr lang="en-US" altLang="ko-KR" sz="2000" dirty="0"/>
              <a:t>— </a:t>
            </a:r>
            <a:r>
              <a:rPr lang="ko-KR" altLang="en-US" sz="2000" dirty="0"/>
              <a:t>항공 안전 수준에 부합하는 실시간성 확보</a:t>
            </a:r>
            <a:endParaRPr lang="en-US" altLang="ko-KR" sz="2000" dirty="0"/>
          </a:p>
          <a:p>
            <a:pPr>
              <a:lnSpc>
                <a:spcPct val="110000"/>
              </a:lnSpc>
            </a:pPr>
            <a:r>
              <a:rPr lang="ko-KR" altLang="en-US" sz="2000" dirty="0"/>
              <a:t>○ 오픈소스</a:t>
            </a:r>
            <a:r>
              <a:rPr lang="en-US" altLang="ko-KR" sz="2000" dirty="0"/>
              <a:t>·</a:t>
            </a:r>
            <a:r>
              <a:rPr lang="ko-KR" altLang="en-US" sz="2000" dirty="0"/>
              <a:t>표준</a:t>
            </a:r>
            <a:r>
              <a:rPr lang="en-US" altLang="ko-KR" sz="2000" dirty="0"/>
              <a:t>(</a:t>
            </a:r>
            <a:r>
              <a:rPr lang="en" altLang="ko-KR" sz="2000" dirty="0"/>
              <a:t>ONVIF) </a:t>
            </a:r>
            <a:r>
              <a:rPr lang="ko-KR" altLang="en-US" sz="2000" dirty="0"/>
              <a:t>기반 검증되고 재현 가능한 아키텍처 제시</a:t>
            </a:r>
            <a:endParaRPr lang="en-US" altLang="ko-KR" sz="2000" dirty="0"/>
          </a:p>
        </p:txBody>
      </p:sp>
      <p:grpSp>
        <p:nvGrpSpPr>
          <p:cNvPr id="20" name="그룹 19"/>
          <p:cNvGrpSpPr/>
          <p:nvPr/>
        </p:nvGrpSpPr>
        <p:grpSpPr>
          <a:xfrm>
            <a:off x="581891" y="4015048"/>
            <a:ext cx="4463934" cy="448887"/>
            <a:chOff x="627842" y="1492250"/>
            <a:chExt cx="2664888" cy="444500"/>
          </a:xfrm>
        </p:grpSpPr>
        <p:pic>
          <p:nvPicPr>
            <p:cNvPr id="21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22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i="0" u="none" strike="noStrike" dirty="0">
                  <a:solidFill>
                    <a:srgbClr val="1C5E8D"/>
                  </a:solidFill>
                  <a:latin typeface="+mn-ea"/>
                </a:rPr>
                <a:t>기대 효과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581891" y="1026664"/>
            <a:ext cx="11039302" cy="253118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581891" y="436460"/>
            <a:ext cx="4463934" cy="448887"/>
            <a:chOff x="627842" y="1492250"/>
            <a:chExt cx="2664888" cy="444500"/>
          </a:xfrm>
        </p:grpSpPr>
        <p:pic>
          <p:nvPicPr>
            <p:cNvPr id="13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14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실적 산출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AA403E01-C2D2-ADB9-591C-8687A782C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73" y="1059232"/>
            <a:ext cx="2516344" cy="24379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2500E3-C35B-36D5-6484-68C50E40D9BA}"/>
              </a:ext>
            </a:extLst>
          </p:cNvPr>
          <p:cNvSpPr txBox="1"/>
          <p:nvPr/>
        </p:nvSpPr>
        <p:spPr>
          <a:xfrm>
            <a:off x="2991563" y="1854411"/>
            <a:ext cx="8810117" cy="875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“</a:t>
            </a:r>
            <a:r>
              <a:rPr lang="ko-KR" altLang="en-US" sz="2000" dirty="0" err="1"/>
              <a:t>드론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버티포트</a:t>
            </a:r>
            <a:r>
              <a:rPr lang="ko-KR" altLang="en-US" sz="2000" dirty="0"/>
              <a:t> 환경을 위한 웹 기반 </a:t>
            </a:r>
            <a:r>
              <a:rPr lang="en-US" altLang="ko-KR" sz="2000" dirty="0"/>
              <a:t>CCTV </a:t>
            </a:r>
            <a:r>
              <a:rPr lang="ko-KR" altLang="en-US" sz="2000" dirty="0"/>
              <a:t>통합 감시 시스템 설계 및 구현</a:t>
            </a:r>
            <a:r>
              <a:rPr lang="en-US" altLang="ko-KR" sz="2000" dirty="0"/>
              <a:t>”</a:t>
            </a:r>
          </a:p>
          <a:p>
            <a:pPr algn="ctr">
              <a:lnSpc>
                <a:spcPct val="150000"/>
              </a:lnSpc>
            </a:pPr>
            <a:r>
              <a:rPr lang="en-US" altLang="ko-KR" sz="1600" dirty="0"/>
              <a:t>(2026 </a:t>
            </a:r>
            <a:r>
              <a:rPr lang="ko-KR" altLang="en-US" sz="1600" dirty="0"/>
              <a:t>한국정보기술학회 하계종합학술대회 및 대학생논문경진대회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473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2E5E619-73CE-1A46-929E-191AC796287D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48f59e9-da4c-4e45-ba2e-146629aa807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375</Words>
  <Application>Microsoft Office PowerPoint</Application>
  <PresentationFormat>와이드스크린</PresentationFormat>
  <Paragraphs>54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나눔바른고딕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소프트웨어교육원</dc:creator>
  <cp:lastModifiedBy>형철 서</cp:lastModifiedBy>
  <cp:revision>22</cp:revision>
  <dcterms:created xsi:type="dcterms:W3CDTF">2025-05-26T08:38:07Z</dcterms:created>
  <dcterms:modified xsi:type="dcterms:W3CDTF">2026-06-06T07:51:35Z</dcterms:modified>
</cp:coreProperties>
</file>